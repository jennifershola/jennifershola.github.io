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embeddedFontLst>
    <p:embeddedFont>
      <p:font typeface="Average" pitchFamily="2" charset="77"/>
      <p:regular r:id="rId22"/>
    </p:embeddedFont>
    <p:embeddedFont>
      <p:font typeface="Oswald" pitchFamily="2" charset="77"/>
      <p:regular r:id="rId23"/>
      <p:bold r:id="rId24"/>
    </p:embeddedFont>
    <p:embeddedFont>
      <p:font typeface="Roboto" panose="02000000000000000000" pitchFamily="2" charset="0"/>
      <p:regular r:id="rId25"/>
      <p:bold r:id="rId26"/>
      <p:italic r:id="rId27"/>
      <p:boldItalic r:id="rId28"/>
    </p:embeddedFont>
    <p:embeddedFont>
      <p:font typeface="Roboto Light" panose="020F0302020204030204" pitchFamily="34" charset="0"/>
      <p:regular r:id="rId29"/>
      <p:bold r:id="rId30"/>
      <p:italic r:id="rId31"/>
      <p:boldItalic r:id="rId32"/>
    </p:embeddedFont>
    <p:embeddedFont>
      <p:font typeface="Roboto Medium" panose="020F050202020403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pos="1906">
          <p15:clr>
            <a:srgbClr val="9AA0A6"/>
          </p15:clr>
        </p15:guide>
        <p15:guide id="4" pos="3816">
          <p15:clr>
            <a:srgbClr val="9AA0A6"/>
          </p15:clr>
        </p15:guide>
        <p15:guide id="5" orient="horz" pos="1080">
          <p15:clr>
            <a:srgbClr val="9AA0A6"/>
          </p15:clr>
        </p15:guide>
        <p15:guide id="6" orient="horz" pos="2412">
          <p15:clr>
            <a:srgbClr val="9AA0A6"/>
          </p15:clr>
        </p15:guide>
        <p15:guide id="7" pos="295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591A76-CFF5-4B77-A7A6-EE86ED9AF097}">
  <a:tblStyle styleId="{48591A76-CFF5-4B77-A7A6-EE86ED9AF09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231"/>
  </p:normalViewPr>
  <p:slideViewPr>
    <p:cSldViewPr snapToGrid="0">
      <p:cViewPr varScale="1">
        <p:scale>
          <a:sx n="150" d="100"/>
          <a:sy n="150" d="100"/>
        </p:scale>
        <p:origin x="1064" y="160"/>
      </p:cViewPr>
      <p:guideLst>
        <p:guide orient="horz" pos="1620"/>
        <p:guide pos="2880"/>
        <p:guide pos="1906"/>
        <p:guide pos="3816"/>
        <p:guide orient="horz" pos="1080"/>
        <p:guide orient="horz" pos="2412"/>
        <p:guide pos="29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theme" Target="theme/theme1.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614e4272f1_2_24: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614e4272f1_2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In the following slides, this section contains the script that was presented with this presentation. </a:t>
            </a:r>
            <a:r>
              <a:rPr lang="en">
                <a:solidFill>
                  <a:schemeClr val="dk1"/>
                </a:solidFill>
              </a:rPr>
              <a:t>The original presentation was put together for a 10 minute talk (realistically 15+). I started each slide repeating the title out loud before speaking what is included in the script section. </a:t>
            </a:r>
            <a:r>
              <a:rPr lang="en"/>
              <a:t>While I deviated from the script while speaking (often to reference graphs and explain them in further detail), this script paired with the presentation should enable any reader of this presentation to understand the key points of the research.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cbc2bd5e37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cbc2bd5e37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AGENDA</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Script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Today’s talk is broken down into three main sections: </a:t>
            </a:r>
            <a:endParaRPr/>
          </a:p>
          <a:p>
            <a:pPr marL="457200" lvl="0" indent="-298450" algn="l" rtl="0">
              <a:spcBef>
                <a:spcPts val="0"/>
              </a:spcBef>
              <a:spcAft>
                <a:spcPts val="0"/>
              </a:spcAft>
              <a:buSzPts val="1100"/>
              <a:buAutoNum type="arabicPeriod"/>
            </a:pPr>
            <a:r>
              <a:rPr lang="en"/>
              <a:t>discussion of the problem and context behind pursuing this research, </a:t>
            </a:r>
            <a:endParaRPr/>
          </a:p>
          <a:p>
            <a:pPr marL="457200" lvl="0" indent="-298450" algn="l" rtl="0">
              <a:spcBef>
                <a:spcPts val="0"/>
              </a:spcBef>
              <a:spcAft>
                <a:spcPts val="0"/>
              </a:spcAft>
              <a:buSzPts val="1100"/>
              <a:buAutoNum type="arabicPeriod"/>
            </a:pPr>
            <a:r>
              <a:rPr lang="en"/>
              <a:t>an overview of the research and any findings found from the experiments, </a:t>
            </a:r>
            <a:endParaRPr/>
          </a:p>
          <a:p>
            <a:pPr marL="457200" lvl="0" indent="-298450" algn="l" rtl="0">
              <a:spcBef>
                <a:spcPts val="0"/>
              </a:spcBef>
              <a:spcAft>
                <a:spcPts val="0"/>
              </a:spcAft>
              <a:buSzPts val="1100"/>
              <a:buAutoNum type="arabicPeriod"/>
            </a:pPr>
            <a:r>
              <a:rPr lang="en"/>
              <a:t>and an overview of the future opportunities available for research on this topic. </a:t>
            </a:r>
            <a:endParaRPr/>
          </a:p>
          <a:p>
            <a:pPr marL="0" lvl="0" indent="0" algn="l" rtl="0">
              <a:spcBef>
                <a:spcPts val="0"/>
              </a:spcBef>
              <a:spcAft>
                <a:spcPts val="0"/>
              </a:spcAft>
              <a:buNone/>
            </a:pPr>
            <a:endParaRPr/>
          </a:p>
          <a:p>
            <a:pPr marL="0" lvl="0" indent="0" algn="l" rtl="0">
              <a:spcBef>
                <a:spcPts val="0"/>
              </a:spcBef>
              <a:spcAft>
                <a:spcPts val="0"/>
              </a:spcAft>
              <a:buClr>
                <a:schemeClr val="lt1"/>
              </a:buClr>
              <a:buSzPts val="1100"/>
              <a:buFont typeface="Arial"/>
              <a:buNone/>
            </a:pPr>
            <a:r>
              <a:rPr lang="en"/>
              <a:t>Up first, we’re going to dive into the problem statement behind my research project. Specifically, I want to chat about research that’s already been done in the space to provide context on this research project. I also want to discuss some of my motivations for studying this before discussing the specifics of the research problem.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ceea27f2e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ceea27f2e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PRIOR WORK </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Let’s set the context. </a:t>
            </a:r>
            <a:r>
              <a:rPr lang="en">
                <a:solidFill>
                  <a:schemeClr val="dk1"/>
                </a:solidFill>
              </a:rPr>
              <a:t>Scaling Laws for Neural Language Models was a recent paper that came out of OpenA</a:t>
            </a:r>
            <a:r>
              <a:rPr lang="en"/>
              <a:t>I. I imagine most people in the room are familiar with this research so I’ll try to keep my comments brief.</a:t>
            </a:r>
            <a:endParaRPr/>
          </a:p>
          <a:p>
            <a:pPr marL="0" lvl="0" indent="0" algn="l" rtl="0">
              <a:spcBef>
                <a:spcPts val="0"/>
              </a:spcBef>
              <a:spcAft>
                <a:spcPts val="0"/>
              </a:spcAft>
              <a:buNone/>
            </a:pPr>
            <a:endParaRPr/>
          </a:p>
          <a:p>
            <a:pPr marL="0" lvl="0" indent="0" algn="l" rtl="0">
              <a:spcBef>
                <a:spcPts val="0"/>
              </a:spcBef>
              <a:spcAft>
                <a:spcPts val="0"/>
              </a:spcAft>
              <a:buNone/>
            </a:pPr>
            <a:r>
              <a:rPr lang="en"/>
              <a:t>This paper, Scaling Laws for Neural Language Models, introduced empirical scaling laws for the performance of machine learning models as a function of a number of key attributes: model size (which is defined by the number of model parameters), dataset size, and compute (the total compute budget used to train the model). As defined in the paper, the total amount of non-embedding compute used during training can be estimated as C = 6NBS, where B is the batch size, S is the number of parameter updates, and the factor of 6 accounts for the forward and backward passes. </a:t>
            </a:r>
            <a:endParaRPr/>
          </a:p>
          <a:p>
            <a:pPr marL="0" lvl="0" indent="0" algn="l" rtl="0">
              <a:spcBef>
                <a:spcPts val="0"/>
              </a:spcBef>
              <a:spcAft>
                <a:spcPts val="0"/>
              </a:spcAft>
              <a:buNone/>
            </a:pPr>
            <a:endParaRPr/>
          </a:p>
          <a:p>
            <a:pPr marL="0" lvl="0" indent="0" algn="l" rtl="0">
              <a:spcBef>
                <a:spcPts val="0"/>
              </a:spcBef>
              <a:spcAft>
                <a:spcPts val="0"/>
              </a:spcAft>
              <a:buNone/>
            </a:pPr>
            <a:r>
              <a:rPr lang="en"/>
              <a:t> The graph to the left is from the original paper and illustrates how language modeling performance improves smoothly as we increase model size, dataset size, and compute. With optimal performance being gained when all three factors are scaled in tandem.</a:t>
            </a:r>
            <a:endParaRPr>
              <a:solidFill>
                <a:srgbClr val="980000"/>
              </a:solidFill>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solidFill>
                  <a:schemeClr val="dk1"/>
                </a:solidFill>
              </a:rPr>
              <a:t>Given that L(C) is it’s own function for every model, I considered lines within 5% of one another to be within a mar</a:t>
            </a:r>
            <a:r>
              <a:rPr lang="en"/>
              <a:t>gin of uncertainty. The further away L(C) was, the more significant I considered it’s results. L(C) can be calculated with irreducible loss or without but in my experiments, I exclusively calculated it without for simplicity. It should be noted that the exponent (m) is the most important term because it controls the speed of the tradeoff between loss and compute. </a:t>
            </a:r>
            <a:endParaRPr/>
          </a:p>
          <a:p>
            <a:pPr marL="0" lvl="0" indent="0" algn="l" rtl="0">
              <a:spcBef>
                <a:spcPts val="0"/>
              </a:spcBef>
              <a:spcAft>
                <a:spcPts val="0"/>
              </a:spcAft>
              <a:buClr>
                <a:schemeClr val="lt1"/>
              </a:buClr>
              <a:buSzPts val="1100"/>
              <a:buFont typeface="Arial"/>
              <a:buNone/>
            </a:pPr>
            <a:endParaRPr/>
          </a:p>
          <a:p>
            <a:pPr marL="0" lvl="0" indent="0" algn="l" rtl="0">
              <a:spcBef>
                <a:spcPts val="0"/>
              </a:spcBef>
              <a:spcAft>
                <a:spcPts val="0"/>
              </a:spcAft>
              <a:buClr>
                <a:schemeClr val="lt1"/>
              </a:buClr>
              <a:buSzPts val="1100"/>
              <a:buFont typeface="Arial"/>
              <a:buNone/>
            </a:pPr>
            <a:r>
              <a:rPr lang="en"/>
              <a:t>This is the existing research work that lead to my research project. While the original paper studies scaling laws on on decoder-only transformers, I wanted to understand how these laws trend among the different transformer architectures. </a:t>
            </a:r>
            <a:endParaRPr/>
          </a:p>
          <a:p>
            <a:pPr marL="0" lvl="0" indent="0" algn="l" rtl="0">
              <a:spcBef>
                <a:spcPts val="0"/>
              </a:spcBef>
              <a:spcAft>
                <a:spcPts val="0"/>
              </a:spcAft>
              <a:buClr>
                <a:schemeClr val="lt1"/>
              </a:buClr>
              <a:buSzPts val="1100"/>
              <a:buFont typeface="Arial"/>
              <a:buNone/>
            </a:pPr>
            <a:endParaRPr/>
          </a:p>
          <a:p>
            <a:pPr marL="0" lvl="0" indent="0" algn="l" rtl="0">
              <a:spcBef>
                <a:spcPts val="0"/>
              </a:spcBef>
              <a:spcAft>
                <a:spcPts val="0"/>
              </a:spcAft>
              <a:buClr>
                <a:schemeClr val="lt1"/>
              </a:buClr>
              <a:buSzPts val="1100"/>
              <a:buFont typeface="Arial"/>
              <a:buNone/>
            </a:pPr>
            <a:r>
              <a:rPr lang="en"/>
              <a:t>Before we get into more background, let’s talk about motivations!</a:t>
            </a:r>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c7e251d1d5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c7e251d1d5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MOTIVATIONS</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I was interested in working with transformers because of their impact on the NLP space. When you add scaling laws, which introduced the ability to forecast loss with respect to compute, I was curious to know how these scaling laws could generalize among different types of transformer architectures. </a:t>
            </a:r>
            <a:r>
              <a:rPr lang="en">
                <a:solidFill>
                  <a:schemeClr val="dk1"/>
                </a:solidFill>
              </a:rPr>
              <a:t>I was also curious to explore the constraints of scaling laws and I thought trying to reproduce these them but on different types of transformers, could tell us more about what generalizes among the different algorithms versus being a stand alone feature of the original decoder only transformer.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solidFill>
                  <a:schemeClr val="dk1"/>
                </a:solidFill>
              </a:rPr>
              <a:t>At best, it would be an opportunity to understand the connection between transformer architecture components and model performance.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At worst, it would be an opportunity to understand the constraints of scaling laws, particularly when exploring more models.</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Next, I’ll discuss the types of architectures I experimented on, why I choose them, their differences, and then what I think we can expect from the resulting scaling laws.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c7e251d1d5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c7e251d1d5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MODEL CATEGORIES</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chemeClr val="dk1"/>
                </a:solidFill>
              </a:rPr>
              <a:t>So the transformer architectures I studied fall into two categories: causal language models, which attempt to predict the next token in a sequence, and masked language models, which attempt to predict the masked word, which can be any word within the sentence. </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The only difference between causal language models and masked language models is in the way the model is pretrained, so the same architecture can be used for both types of language modeling. We’ll see this later on with BERT. Although it was original released as a masked language model, there are causal implementations of it and I ran my experiments on both types.</a:t>
            </a:r>
            <a:endParaRPr/>
          </a:p>
          <a:p>
            <a:pPr marL="0" lvl="0" indent="0" algn="l" rtl="0">
              <a:spcBef>
                <a:spcPts val="0"/>
              </a:spcBef>
              <a:spcAft>
                <a:spcPts val="0"/>
              </a:spcAft>
              <a:buNone/>
            </a:pPr>
            <a:endParaRPr>
              <a:solidFill>
                <a:srgbClr val="980000"/>
              </a:solidFill>
            </a:endParaRPr>
          </a:p>
          <a:p>
            <a:pPr marL="0" lvl="0" indent="0" algn="l" rtl="0">
              <a:spcBef>
                <a:spcPts val="0"/>
              </a:spcBef>
              <a:spcAft>
                <a:spcPts val="0"/>
              </a:spcAft>
              <a:buNone/>
            </a:pPr>
            <a:endParaRPr sz="1200">
              <a:latin typeface="Roboto"/>
              <a:ea typeface="Roboto"/>
              <a:cs typeface="Roboto"/>
              <a:sym typeface="Roboto"/>
            </a:endParaRPr>
          </a:p>
          <a:p>
            <a:pPr marL="0" lvl="0" indent="0" algn="l" rtl="0">
              <a:spcBef>
                <a:spcPts val="0"/>
              </a:spcBef>
              <a:spcAft>
                <a:spcPts val="0"/>
              </a:spcAft>
              <a:buNone/>
            </a:pPr>
            <a:endParaRPr sz="1200">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c7e251d1d5_0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c7e251d1d5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VARIANTS BACKGROUND </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The architectures I experimented with are shown here. They were picked based on their architecture and ease of implementation. </a:t>
            </a:r>
            <a:endParaRPr/>
          </a:p>
          <a:p>
            <a:pPr marL="0" lvl="0" indent="0" algn="l" rtl="0">
              <a:spcBef>
                <a:spcPts val="0"/>
              </a:spcBef>
              <a:spcAft>
                <a:spcPts val="0"/>
              </a:spcAft>
              <a:buNone/>
            </a:pPr>
            <a:endParaRPr/>
          </a:p>
          <a:p>
            <a:pPr marL="0" lvl="0" indent="0" algn="l" rtl="0">
              <a:spcBef>
                <a:spcPts val="0"/>
              </a:spcBef>
              <a:spcAft>
                <a:spcPts val="0"/>
              </a:spcAft>
              <a:buNone/>
            </a:pPr>
            <a:r>
              <a:rPr lang="en"/>
              <a:t>[ IF TIME LIMITED, QUICKLY NOTE INFO ON SLIDE AND SKIP THE FOLLOWING ]</a:t>
            </a:r>
            <a:endParaRPr/>
          </a:p>
          <a:p>
            <a:pPr marL="0" lvl="0" indent="0" algn="l" rtl="0">
              <a:spcBef>
                <a:spcPts val="0"/>
              </a:spcBef>
              <a:spcAft>
                <a:spcPts val="0"/>
              </a:spcAft>
              <a:buNone/>
            </a:pPr>
            <a:endParaRPr/>
          </a:p>
          <a:p>
            <a:pPr marL="0" lvl="0" indent="0" algn="l" rtl="0">
              <a:spcBef>
                <a:spcPts val="0"/>
              </a:spcBef>
              <a:spcAft>
                <a:spcPts val="0"/>
              </a:spcAft>
              <a:buNone/>
            </a:pPr>
            <a:r>
              <a:rPr lang="en"/>
              <a:t>In the interest of time, I’ll try to be brief and highlight only the main architectural differences between these.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As I mentioned earlier in the presentation, scaling laws were studied on a decoder only transformer. Since the dataset, dataset size, and machine I used are all different from the original paper, I needed to experiment on a transformer similar to what was used in the original paper. </a:t>
            </a:r>
            <a:endParaRPr/>
          </a:p>
          <a:p>
            <a:pPr marL="0" lvl="0" indent="0" algn="l" rtl="0">
              <a:spcBef>
                <a:spcPts val="0"/>
              </a:spcBef>
              <a:spcAft>
                <a:spcPts val="0"/>
              </a:spcAft>
              <a:buNone/>
            </a:pPr>
            <a:endParaRPr/>
          </a:p>
          <a:p>
            <a:pPr marL="0" lvl="0" indent="0" algn="l" rtl="0">
              <a:spcBef>
                <a:spcPts val="0"/>
              </a:spcBef>
              <a:spcAft>
                <a:spcPts val="0"/>
              </a:spcAft>
              <a:buNone/>
            </a:pPr>
            <a:r>
              <a:rPr lang="en"/>
              <a:t>I chose GPT2 for that because it had the closest architecture to the original used in the scaling laws paper. I thought it would be a good reference point to put the results in context.</a:t>
            </a:r>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The two other causal language models I experimented with are Transformer XL and Reformer.</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Transformer XL leverages a recurrence mechanism, which essentially allows the model to pay attention to information that was in the previous and current segment, lengthening the sequences that can be evaluated.</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Reformer uses quite a few techniques to reduce it’s memory footprint and decrease its overall compute time.</a:t>
            </a:r>
            <a:r>
              <a:rPr lang="en">
                <a:solidFill>
                  <a:srgbClr val="980000"/>
                </a:solidFill>
              </a:rPr>
              <a:t> </a:t>
            </a:r>
            <a:r>
              <a:rPr lang="en"/>
              <a:t>Prior to starting my experiments, I was interested in exploring how the scaling laws for this model would compare given it’s architectural advantages directly connect to reducing compute.</a:t>
            </a:r>
            <a:endParaRPr/>
          </a:p>
          <a:p>
            <a:pPr marL="0" lvl="0" indent="0" algn="l" rtl="0">
              <a:spcBef>
                <a:spcPts val="0"/>
              </a:spcBef>
              <a:spcAft>
                <a:spcPts val="0"/>
              </a:spcAft>
              <a:buNone/>
            </a:pPr>
            <a:endParaRPr/>
          </a:p>
          <a:p>
            <a:pPr marL="0" lvl="0" indent="0" algn="l" rtl="0">
              <a:spcBef>
                <a:spcPts val="0"/>
              </a:spcBef>
              <a:spcAft>
                <a:spcPts val="0"/>
              </a:spcAft>
              <a:buNone/>
            </a:pPr>
            <a:r>
              <a:rPr lang="en"/>
              <a:t>BERT is masked language model that uses random masking and next sentence prediction. As I mentioned earlier, the only difference between causal language models and masked language models is in the way the model is trained, meaning that the same architecture can be used for both types of modeling. That is true for BERT and as you’ll see later in this presentation, I generated learning curves using both methods of training to understand how the scaling laws would change if at all. </a:t>
            </a:r>
            <a:endParaRPr/>
          </a:p>
          <a:p>
            <a:pPr marL="0" lvl="0" indent="0" algn="l" rtl="0">
              <a:spcBef>
                <a:spcPts val="0"/>
              </a:spcBef>
              <a:spcAft>
                <a:spcPts val="0"/>
              </a:spcAft>
              <a:buNone/>
            </a:pPr>
            <a:endParaRPr/>
          </a:p>
          <a:p>
            <a:pPr marL="0" lvl="0" indent="0" algn="l" rtl="0">
              <a:spcBef>
                <a:spcPts val="0"/>
              </a:spcBef>
              <a:spcAft>
                <a:spcPts val="0"/>
              </a:spcAft>
              <a:buNone/>
            </a:pPr>
            <a:r>
              <a:rPr lang="en"/>
              <a:t>FlauBERT (Flow-bear) doesn’t include the sentence ordering prediction, speeding up it’s compute time. While RoBERTa leverages more pre training tricks, like dynamic masking, to do it’s language modeling.</a:t>
            </a:r>
            <a:endParaRPr/>
          </a:p>
          <a:p>
            <a:pPr marL="0" lvl="0" indent="0" algn="l" rtl="0">
              <a:spcBef>
                <a:spcPts val="0"/>
              </a:spcBef>
              <a:spcAft>
                <a:spcPts val="0"/>
              </a:spcAft>
              <a:buNone/>
            </a:pPr>
            <a:endParaRPr sz="1200">
              <a:latin typeface="Roboto"/>
              <a:ea typeface="Roboto"/>
              <a:cs typeface="Roboto"/>
              <a:sym typeface="Roboto"/>
            </a:endParaRPr>
          </a:p>
          <a:p>
            <a:pPr marL="0" lvl="0" indent="0" algn="l" rtl="0">
              <a:spcBef>
                <a:spcPts val="0"/>
              </a:spcBef>
              <a:spcAft>
                <a:spcPts val="0"/>
              </a:spcAft>
              <a:buNone/>
            </a:pPr>
            <a:endParaRPr sz="1200">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cbc2bd5e3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cbc2bd5e3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HYPOTHESIS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So my hypothesis is that the impact of transformer architecture on scaling laws depends on how significantly that architecture impacts model size, dataset size, or most likely, compute.</a:t>
            </a:r>
            <a:endParaRPr/>
          </a:p>
          <a:p>
            <a:pPr marL="0" lvl="0" indent="0" algn="l" rtl="0">
              <a:spcBef>
                <a:spcPts val="0"/>
              </a:spcBef>
              <a:spcAft>
                <a:spcPts val="0"/>
              </a:spcAft>
              <a:buNone/>
            </a:pPr>
            <a:endParaRPr/>
          </a:p>
          <a:p>
            <a:pPr marL="0" lvl="0" indent="0" algn="l" rtl="0">
              <a:spcBef>
                <a:spcPts val="0"/>
              </a:spcBef>
              <a:spcAft>
                <a:spcPts val="0"/>
              </a:spcAft>
              <a:buNone/>
            </a:pPr>
            <a:r>
              <a:rPr lang="en"/>
              <a:t>Given reformer’s focus on reducing it’s memory and compute during training, my prediction was that we’d see the reformer architecture outperform the other models.</a:t>
            </a:r>
            <a:endParaRPr/>
          </a:p>
          <a:p>
            <a:pPr marL="0" lvl="0" indent="0" algn="l" rtl="0">
              <a:spcBef>
                <a:spcPts val="0"/>
              </a:spcBef>
              <a:spcAft>
                <a:spcPts val="0"/>
              </a:spcAft>
              <a:buNone/>
            </a:pPr>
            <a:endParaRPr/>
          </a:p>
          <a:p>
            <a:pPr marL="0" lvl="0" indent="0" algn="l" rtl="0">
              <a:spcBef>
                <a:spcPts val="0"/>
              </a:spcBef>
              <a:spcAft>
                <a:spcPts val="0"/>
              </a:spcAft>
              <a:buNone/>
            </a:pPr>
            <a:r>
              <a:rPr lang="en"/>
              <a:t>Given the insight from the original paper on how weakly performance trends with model shape, I predict that BERT’s scaling laws should have little to no change, given that the overall architecture is the same.</a:t>
            </a:r>
            <a:endParaRPr/>
          </a:p>
          <a:p>
            <a:pPr marL="0" lvl="0" indent="0" algn="l" rtl="0">
              <a:spcBef>
                <a:spcPts val="0"/>
              </a:spcBef>
              <a:spcAft>
                <a:spcPts val="0"/>
              </a:spcAft>
              <a:buNone/>
            </a:pPr>
            <a:endParaRPr/>
          </a:p>
          <a:p>
            <a:pPr marL="0" lvl="0" indent="0" algn="l" rtl="0">
              <a:spcBef>
                <a:spcPts val="0"/>
              </a:spcBef>
              <a:spcAft>
                <a:spcPts val="0"/>
              </a:spcAft>
              <a:buNone/>
            </a:pPr>
            <a:r>
              <a:rPr lang="en"/>
              <a:t>Lastly, I’m expecting to see that the masked language models have scaling laws that are either within a margin of uncertainty between one another, or that their scaling laws are the same with possibly only a small difference in it’s constant prefactor.</a:t>
            </a:r>
            <a:endParaRPr/>
          </a:p>
          <a:p>
            <a:pPr marL="0" lvl="0" indent="0" algn="l" rtl="0">
              <a:spcBef>
                <a:spcPts val="0"/>
              </a:spcBef>
              <a:spcAft>
                <a:spcPts val="0"/>
              </a:spcAft>
              <a:buNone/>
            </a:pPr>
            <a:endParaRPr/>
          </a:p>
          <a:p>
            <a:pPr marL="0" lvl="0" indent="0" algn="l" rtl="0">
              <a:spcBef>
                <a:spcPts val="0"/>
              </a:spcBef>
              <a:spcAft>
                <a:spcPts val="0"/>
              </a:spcAft>
              <a:buNone/>
            </a:pPr>
            <a:r>
              <a:rPr lang="en"/>
              <a:t>Overall, I wasn’t too confident with these predictions due to how little is known about scaling laws on different architectures.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c7e251d1d5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c7e251d1d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FINDINGS AGENDA</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Script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Next, I want to discuss my experiment methodology, what my preliminary findings are, and the limitations I observed during research.</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sz="1200">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cbc2bd5e37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cbc2bd5e3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METHODOLOGY</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One of the key tasks of my research project was to calculate the Compute Efficient Frontier Fit - L(C) - on transformer architectures doing language modeling to understand how L(C) changes, with respect to algorithmic changes within an architectural family.</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So once I decided which models to study, I proposed several model sizes to train and produced a learning curve for each run. Ideally training at least 4-5 sizes for every model. The number of parameters ranged between 2M and 350M with some variation between the different architectures.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solidFill>
                  <a:schemeClr val="dk1"/>
                </a:solidFill>
              </a:rPr>
              <a:t>[ MOTIONS TO GRAPH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t>This graph highlights loss vs estimated compute, and here we can see the formation of a pareto frontier. The line tangent to this curve effectively represents the scaling law that we’re looking to find for these transformers. The idea being that if we were to increase or decrease the model size, it’s performance would follow this particular pattern. So if we were to extend this imaginary line, we would expect subsequent model sizes to perform better than it’s previous model size but predictably plateau in this same pattern.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ceef5d582b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ceef5d582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PRELIMINARY FINDINGS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In the interest of time, I’m going to discuss only the most interesting findings of my research. I also want to add that these are preliminary results. I also wouldn’t look at these numbers as precise figures but more so as a guide to understand what they reveal about the relationships of the scaling laws with respect to one another.</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So on this slide, we can see that the same architecture using a different method of training can produce different L(C)s. </a:t>
            </a:r>
            <a:endParaRPr/>
          </a:p>
          <a:p>
            <a:pPr marL="0" lvl="0" indent="0" algn="l" rtl="0">
              <a:spcBef>
                <a:spcPts val="0"/>
              </a:spcBef>
              <a:spcAft>
                <a:spcPts val="0"/>
              </a:spcAft>
              <a:buNone/>
            </a:pPr>
            <a:endParaRPr/>
          </a:p>
          <a:p>
            <a:pPr marL="0" lvl="0" indent="0" algn="l" rtl="0">
              <a:spcBef>
                <a:spcPts val="0"/>
              </a:spcBef>
              <a:spcAft>
                <a:spcPts val="0"/>
              </a:spcAft>
              <a:buNone/>
            </a:pPr>
            <a:r>
              <a:rPr lang="en"/>
              <a:t>This result was initially surprising because I had initially assumed we’d see the same L(C) because they have the same architecture. But this actually makes sense conceptually, once you consider that while the same architecture when trained differently, processes data v</a:t>
            </a:r>
            <a:r>
              <a:rPr lang="en">
                <a:solidFill>
                  <a:schemeClr val="dk1"/>
                </a:solidFill>
              </a:rPr>
              <a:t>ery differently.</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So in the case of BERT, when it’s trained as a masked language model, the context is encoded bidirectionally (essentially we incorporation semantic information from both the left and right context). However, when BERT is trained as a causal language model (that’s next word prediction), it’s only ever considering the left context. This means that the same architectures can be treated as two different architectures if the way the data being trained within it is also different.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MOTIONS TO GRAPH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As you can see by two L(C), BERT CLM has a larger exponent value, which means that loss decreases substantially faster when BERT is used as a causal language model than as a masked language model (on the specific dataset it was trained on). As I didn’t account for this type of finding before the experiment phase, I didn’t test this sort of behavior on multiple models. In the next phase of testing, I’d want to expand these types of experiments and understand if there is a pattern among the L(C) being produced or if this simply increases the number of distinct architectures to experiment with.</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ceef5d582b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ceef5d582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PRELIMINARY FINDINGS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 MOTIONS TO GRAPH - explain what’s happening ]</a:t>
            </a:r>
            <a:endParaRPr/>
          </a:p>
          <a:p>
            <a:pPr marL="0" lvl="0" indent="0" algn="l" rtl="0">
              <a:spcBef>
                <a:spcPts val="0"/>
              </a:spcBef>
              <a:spcAft>
                <a:spcPts val="0"/>
              </a:spcAft>
              <a:buNone/>
            </a:pPr>
            <a:endParaRPr/>
          </a:p>
          <a:p>
            <a:pPr marL="0" lvl="0" indent="0" algn="l" rtl="0">
              <a:spcBef>
                <a:spcPts val="0"/>
              </a:spcBef>
              <a:spcAft>
                <a:spcPts val="0"/>
              </a:spcAft>
              <a:buNone/>
            </a:pPr>
            <a:r>
              <a:rPr lang="en"/>
              <a:t>This was probably one of the more interesting findings of this research, due to the tiered structure of the results. It’s likely that this is occurring due to the lack of hyperparameter tuning. My other hypothesis though is that this might be a side effect from the architecture itself. Reformer, also called the efficient transformer, uses many math tricks to reduce memory footprint and speed up compute time. Some of these tricks include axial position encoding (to avoid having a huge positional encoding matrix) or using local-sensitive hashing attention instead of regular attention (to avoid computing a full product query-key in the attention layers of the architecture). </a:t>
            </a:r>
            <a:endParaRPr/>
          </a:p>
          <a:p>
            <a:pPr marL="0" lvl="0" indent="0" algn="l" rtl="0">
              <a:spcBef>
                <a:spcPts val="0"/>
              </a:spcBef>
              <a:spcAft>
                <a:spcPts val="0"/>
              </a:spcAft>
              <a:buNone/>
            </a:pPr>
            <a:endParaRPr/>
          </a:p>
          <a:p>
            <a:pPr marL="0" lvl="0" indent="0" algn="l" rtl="0">
              <a:spcBef>
                <a:spcPts val="0"/>
              </a:spcBef>
              <a:spcAft>
                <a:spcPts val="0"/>
              </a:spcAft>
              <a:buNone/>
            </a:pPr>
            <a:r>
              <a:rPr lang="en"/>
              <a:t>Basically, this means that the hyperparameters for the Reformer model have a more direct impact on compute than other models due to its structure, which means it’s possible that these tiers are a consequence of the resulting attention length, etc, etc. Since it’s not possible for these parameters to be any number (some attributes are dependent on the value of others), it’s possible that even when properly tuned that the model will still form a tiered pareto frontier, but likely with “smaller” tiers or “fewer” models between each tier. </a:t>
            </a:r>
            <a:endParaRPr/>
          </a:p>
          <a:p>
            <a:pPr marL="0" lvl="0" indent="0" algn="l" rtl="0">
              <a:spcBef>
                <a:spcPts val="0"/>
              </a:spcBef>
              <a:spcAft>
                <a:spcPts val="0"/>
              </a:spcAft>
              <a:buNone/>
            </a:pPr>
            <a:endParaRPr/>
          </a:p>
          <a:p>
            <a:pPr marL="0" lvl="0" indent="0" algn="l" rtl="0">
              <a:spcBef>
                <a:spcPts val="0"/>
              </a:spcBef>
              <a:spcAft>
                <a:spcPts val="0"/>
              </a:spcAft>
              <a:buNone/>
            </a:pPr>
            <a:r>
              <a:rPr lang="en"/>
              <a:t>Regardless, I’d want to observe how this pattern persists on other transformers when tested and narrow down how much of what we’re seeing will persist versus what could change once more exhaustive experimentation is done.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bc2bd5e37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cbc2bd5e37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FINDINGS </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As I mentioned earlier, the experiment methodology was fairly limited to began with. </a:t>
            </a:r>
            <a:endParaRPr/>
          </a:p>
          <a:p>
            <a:pPr marL="0" lvl="0" indent="0" algn="l" rtl="0">
              <a:spcBef>
                <a:spcPts val="0"/>
              </a:spcBef>
              <a:spcAft>
                <a:spcPts val="0"/>
              </a:spcAft>
              <a:buNone/>
            </a:pPr>
            <a:endParaRPr/>
          </a:p>
          <a:p>
            <a:pPr marL="0" lvl="0" indent="0" algn="l" rtl="0">
              <a:spcBef>
                <a:spcPts val="0"/>
              </a:spcBef>
              <a:spcAft>
                <a:spcPts val="0"/>
              </a:spcAft>
              <a:buNone/>
            </a:pPr>
            <a:r>
              <a:rPr lang="en"/>
              <a:t>Not enough hyperparameter tuning was done to ensure that these experiments were run on the most optimized models. Scaling laws can also be calculated with or without irreducible loss and in all of the experiments, we only looked at L(C) without irreducible loss to simplify the experiments. If I were to expand the research, I would calculate L(C) with its irreducible loss term as that would give the most precise numbers (esp once tested and normalized on multiple datasets).</a:t>
            </a:r>
            <a:endParaRPr/>
          </a:p>
          <a:p>
            <a:pPr marL="0" lvl="0" indent="0" algn="l" rtl="0">
              <a:spcBef>
                <a:spcPts val="0"/>
              </a:spcBef>
              <a:spcAft>
                <a:spcPts val="0"/>
              </a:spcAft>
              <a:buNone/>
            </a:pPr>
            <a:endParaRPr/>
          </a:p>
          <a:p>
            <a:pPr marL="0" lvl="0" indent="0" algn="l" rtl="0">
              <a:spcBef>
                <a:spcPts val="0"/>
              </a:spcBef>
              <a:spcAft>
                <a:spcPts val="0"/>
              </a:spcAft>
              <a:buNone/>
            </a:pPr>
            <a:r>
              <a:rPr lang="en"/>
              <a:t>This research was lacked architectural component isolation. In some cases, comparing two architectures, even when you consider a distinct numerical value like its L(C), is still comparing apples to oranges, especially once you consider that each architecture has a slightly different accuracy and loss value. While the time constraints on this research made it more difficult to build a transformer from scratch, I’d probably try to componentize more of the transformer model and/or find ways to test independent components of each transformer model so each component’s effect on L(C) is understood in isolation.</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c7e251d1d5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c7e251d1d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FUTURE AGENDA</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Script</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Next, I want to discuss the importance of this research product, what I’d like to work on next, and give thanks to the people who helped make this happen.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cbc2bd5e37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cbc2bd5e37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chemeClr val="dk1"/>
                </a:solidFill>
              </a:rPr>
              <a:t>The architecture that scales the best is the most cost effective model to use. That is why is this research matters because it allows us to find that architecture, and potentially use our findings to understand what future architectures should look like to continue optimizing cost.</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ceef5d582b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ceef5d582b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If these two lines represented two different scaling laws, then it becomes clear that there is always an architecture, if tuned properly, that performs best. And we can see that as compute grows, the gap widens on the model performance you receive for the same amount of compute spent.</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ceef5d582b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ceef5d582b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SUMMARY</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And if the slope is steep enough, an architecture can consistently begin to outpace other architectures within the expected range of compute. </a:t>
            </a:r>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So, why does this matter?</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t>Currently, we're seeing ever increasing amounts of compute being used in the industry. These scaling laws allow for us to optimize large compute regimes and </a:t>
            </a:r>
            <a:r>
              <a:rPr lang="en">
                <a:solidFill>
                  <a:schemeClr val="dk1"/>
                </a:solidFill>
              </a:rPr>
              <a:t>choose the best architecture and model size that helps reach this aim.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In my experiments, the Reformer model was the architecture that produced the best power laws in comparison to the others. The Reformer model was designed to be an efficient transformer and utilizes several techniques to reduce memory footprint and compute time. I think this direct impact on compute time is likely why we see such improved performance with Reformer.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Unfortunately, it was the only transformer architecture I experimented with that had this property. In my next experiments, I’d like to expand the architectures I consider to include transformers with this similar property.</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cbc2bd5e37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cbc2bd5e37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FUTURE WORK</a:t>
            </a:r>
            <a:endParaRPr/>
          </a:p>
          <a:p>
            <a:pPr marL="0" lvl="0" indent="0" algn="l" rtl="0">
              <a:spcBef>
                <a:spcPts val="0"/>
              </a:spcBef>
              <a:spcAft>
                <a:spcPts val="0"/>
              </a:spcAft>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I plan to continue studying the model performance of transformer architectures at scale. I think there is a particular opportunity to study models such as Longformer, Universal Transformer, Compressive Transformer, and Evolved Transformer as their architectures are designed in such a way that it impacts compute in the way that could affect their scaling laws more significantly. </a:t>
            </a:r>
            <a:endParaRPr/>
          </a:p>
          <a:p>
            <a:pPr marL="0" lvl="0" indent="0" algn="l" rtl="0">
              <a:spcBef>
                <a:spcPts val="0"/>
              </a:spcBef>
              <a:spcAft>
                <a:spcPts val="0"/>
              </a:spcAft>
              <a:buNone/>
            </a:pPr>
            <a:endParaRPr/>
          </a:p>
          <a:p>
            <a:pPr marL="0" lvl="0" indent="0" algn="l" rtl="0">
              <a:spcBef>
                <a:spcPts val="0"/>
              </a:spcBef>
              <a:spcAft>
                <a:spcPts val="0"/>
              </a:spcAft>
              <a:buNone/>
            </a:pPr>
            <a:r>
              <a:rPr lang="en"/>
              <a:t>Much of the results I have so far are preliminary so I’d like to spend more time strengthening those findings. To do that, I would do more hyperparameter tuning and testing to see how they affect L(C). I’d also vary the data and dataset size I used to track how performance changes with respect to changes in data.</a:t>
            </a:r>
            <a:endParaRPr/>
          </a:p>
          <a:p>
            <a:pPr marL="0" lvl="0" indent="0" algn="l" rtl="0">
              <a:spcBef>
                <a:spcPts val="0"/>
              </a:spcBef>
              <a:spcAft>
                <a:spcPts val="0"/>
              </a:spcAft>
              <a:buNone/>
            </a:pPr>
            <a:endParaRPr/>
          </a:p>
          <a:p>
            <a:pPr marL="0" lvl="0" indent="0" algn="l" rtl="0">
              <a:spcBef>
                <a:spcPts val="0"/>
              </a:spcBef>
              <a:spcAft>
                <a:spcPts val="0"/>
              </a:spcAft>
              <a:buNone/>
            </a:pPr>
            <a:r>
              <a:rPr lang="en"/>
              <a:t>Beyond that, we could also begin to explore questions that are more focused on model architecture.</a:t>
            </a:r>
            <a:endParaRPr/>
          </a:p>
          <a:p>
            <a:pPr marL="0" lvl="0" indent="0" algn="l" rtl="0">
              <a:spcBef>
                <a:spcPts val="0"/>
              </a:spcBef>
              <a:spcAft>
                <a:spcPts val="0"/>
              </a:spcAft>
              <a:buNone/>
            </a:pPr>
            <a:endParaRPr/>
          </a:p>
          <a:p>
            <a:pPr marL="0" lvl="0" indent="0" algn="l" rtl="0">
              <a:spcBef>
                <a:spcPts val="0"/>
              </a:spcBef>
              <a:spcAft>
                <a:spcPts val="0"/>
              </a:spcAft>
              <a:buNone/>
            </a:pPr>
            <a:r>
              <a:rPr lang="en"/>
              <a:t>This includes:</a:t>
            </a:r>
            <a:endParaRPr/>
          </a:p>
          <a:p>
            <a:pPr marL="457200" lvl="0" indent="-298450" algn="l" rtl="0">
              <a:spcBef>
                <a:spcPts val="0"/>
              </a:spcBef>
              <a:spcAft>
                <a:spcPts val="0"/>
              </a:spcAft>
              <a:buSzPts val="1100"/>
              <a:buChar char="-"/>
            </a:pPr>
            <a:r>
              <a:rPr lang="en"/>
              <a:t>Is it possible to infer which structures should have a </a:t>
            </a:r>
            <a:endParaRPr/>
          </a:p>
          <a:p>
            <a:pPr marL="457200" lvl="0" indent="0" algn="l" rtl="0">
              <a:spcBef>
                <a:spcPts val="0"/>
              </a:spcBef>
              <a:spcAft>
                <a:spcPts val="0"/>
              </a:spcAft>
              <a:buNone/>
            </a:pPr>
            <a:r>
              <a:rPr lang="en"/>
              <a:t>better compute and performance gain based on their structure alone?</a:t>
            </a:r>
            <a:endParaRPr/>
          </a:p>
          <a:p>
            <a:pPr marL="457200" lvl="0" indent="-298450" algn="l" rtl="0">
              <a:spcBef>
                <a:spcPts val="0"/>
              </a:spcBef>
              <a:spcAft>
                <a:spcPts val="0"/>
              </a:spcAft>
              <a:buSzPts val="1100"/>
              <a:buChar char="-"/>
            </a:pPr>
            <a:r>
              <a:rPr lang="en"/>
              <a:t>How do different architectural components affect the </a:t>
            </a:r>
            <a:endParaRPr/>
          </a:p>
          <a:p>
            <a:pPr marL="457200" lvl="0" indent="0" algn="l" rtl="0">
              <a:spcBef>
                <a:spcPts val="0"/>
              </a:spcBef>
              <a:spcAft>
                <a:spcPts val="0"/>
              </a:spcAft>
              <a:buNone/>
            </a:pPr>
            <a:r>
              <a:rPr lang="en"/>
              <a:t>compute and performance expectations of a transformer model?</a:t>
            </a:r>
            <a:endParaRPr/>
          </a:p>
          <a:p>
            <a:pPr marL="457200" lvl="0" indent="-298450" algn="l" rtl="0">
              <a:spcBef>
                <a:spcPts val="0"/>
              </a:spcBef>
              <a:spcAft>
                <a:spcPts val="0"/>
              </a:spcAft>
              <a:buSzPts val="1100"/>
              <a:buChar char="-"/>
            </a:pPr>
            <a:r>
              <a:rPr lang="en"/>
              <a:t>Can we learn which attributes or model structures will become </a:t>
            </a:r>
            <a:endParaRPr/>
          </a:p>
          <a:p>
            <a:pPr marL="457200" lvl="0" indent="0" algn="l" rtl="0">
              <a:spcBef>
                <a:spcPts val="0"/>
              </a:spcBef>
              <a:spcAft>
                <a:spcPts val="0"/>
              </a:spcAft>
              <a:buNone/>
            </a:pPr>
            <a:r>
              <a:rPr lang="en"/>
              <a:t>necessary as improvements for the future of language models?</a:t>
            </a:r>
            <a:endParaRPr/>
          </a:p>
          <a:p>
            <a:pPr marL="0" lvl="0" indent="0" algn="l" rtl="0">
              <a:spcBef>
                <a:spcPts val="0"/>
              </a:spcBef>
              <a:spcAft>
                <a:spcPts val="0"/>
              </a:spcAft>
              <a:buNone/>
            </a:pPr>
            <a:endParaRPr/>
          </a:p>
          <a:p>
            <a:pPr marL="0" lvl="0" indent="0" algn="l" rtl="0">
              <a:spcBef>
                <a:spcPts val="0"/>
              </a:spcBef>
              <a:spcAft>
                <a:spcPts val="0"/>
              </a:spcAft>
              <a:buNone/>
            </a:pPr>
            <a:r>
              <a:rPr lang="en"/>
              <a:t>I think there is a lot of potential experiments that could be run, it would just depend on which question one wanted to explore in more depth. </a:t>
            </a:r>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c66fa8b60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c66fa8b60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THANK YOU</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Script</a:t>
            </a:r>
            <a:endParaRPr/>
          </a:p>
          <a:p>
            <a:pPr marL="0" lvl="0" indent="0" algn="l" rtl="0">
              <a:spcBef>
                <a:spcPts val="0"/>
              </a:spcBef>
              <a:spcAft>
                <a:spcPts val="0"/>
              </a:spcAft>
              <a:buNone/>
            </a:pPr>
            <a:endParaRPr/>
          </a:p>
          <a:p>
            <a:pPr marL="0" lvl="0" indent="0" algn="l" rtl="0">
              <a:spcBef>
                <a:spcPts val="0"/>
              </a:spcBef>
              <a:spcAft>
                <a:spcPts val="0"/>
              </a:spcAft>
              <a:buNone/>
            </a:pPr>
            <a:r>
              <a:rPr lang="en"/>
              <a:t>Before I conclude,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I wanted to thank the team at OpenAI. It’s been an incredible opportunity to spend dedicated time working on AI and learn from some of the brightest minds on the topic. Special thank you to my mentors, Aray and Nick. I’m fortunate to have had the guidance of two mentors and everyone else at Open AI (Muraya, Christina, Pamela, Cathy, Alethea, the other scholars, and everyone) that supported me along my journey.</a:t>
            </a:r>
            <a:endParaRPr/>
          </a:p>
          <a:p>
            <a:pPr marL="0" lvl="0" indent="0" algn="l" rtl="0">
              <a:spcBef>
                <a:spcPts val="0"/>
              </a:spcBef>
              <a:spcAft>
                <a:spcPts val="0"/>
              </a:spcAft>
              <a:buNone/>
            </a:pPr>
            <a:endParaRPr/>
          </a:p>
          <a:p>
            <a:pPr marL="0" lvl="0" indent="0" algn="l" rtl="0">
              <a:spcBef>
                <a:spcPts val="0"/>
              </a:spcBef>
              <a:spcAft>
                <a:spcPts val="0"/>
              </a:spcAft>
              <a:buNone/>
            </a:pPr>
            <a:r>
              <a:rPr lang="en"/>
              <a:t>I’d also like to acknowledge the tools that supported my research project. Studying scalings laws on transformers is both compute heavy and takes quite a bit of coding infrastructure to set up, particularly in 6 months. I would not have been able to accomplish nearly as much as I have without the Hugging Face transformer library, the performance speed ups from Deep Speed, and the amount of Azure credits ($30k) I used to make this happen.</a:t>
            </a:r>
            <a:endParaRPr/>
          </a:p>
          <a:p>
            <a:pPr marL="0" lvl="0" indent="0" algn="l" rtl="0">
              <a:spcBef>
                <a:spcPts val="0"/>
              </a:spcBef>
              <a:spcAft>
                <a:spcPts val="0"/>
              </a:spcAft>
              <a:buNone/>
            </a:pPr>
            <a:endParaRPr/>
          </a:p>
          <a:p>
            <a:pPr marL="0" lvl="0" indent="0" algn="l" rtl="0">
              <a:spcBef>
                <a:spcPts val="0"/>
              </a:spcBef>
              <a:spcAft>
                <a:spcPts val="0"/>
              </a:spcAft>
              <a:buNone/>
            </a:pPr>
            <a:r>
              <a:rPr lang="en"/>
              <a:t>Thanks again!</a:t>
            </a:r>
            <a:endParaRPr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638a4e6e8e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638a4e6e8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Script</a:t>
            </a:r>
            <a:endParaRPr b="1"/>
          </a:p>
          <a:p>
            <a:pPr marL="0" lvl="0" indent="0" algn="l" rtl="0">
              <a:spcBef>
                <a:spcPts val="0"/>
              </a:spcBef>
              <a:spcAft>
                <a:spcPts val="0"/>
              </a:spcAft>
              <a:buNone/>
            </a:pPr>
            <a:endParaRPr b="1"/>
          </a:p>
          <a:p>
            <a:pPr marL="0" lvl="0" indent="0" algn="l" rtl="0">
              <a:spcBef>
                <a:spcPts val="0"/>
              </a:spcBef>
              <a:spcAft>
                <a:spcPts val="0"/>
              </a:spcAft>
              <a:buNone/>
            </a:pPr>
            <a:r>
              <a:rPr lang="en"/>
              <a:t>Any questions?</a:t>
            </a:r>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marL="0" lvl="0" indent="0" algn="l" rtl="0">
              <a:spcBef>
                <a:spcPts val="0"/>
              </a:spcBef>
              <a:spcAft>
                <a:spcPts val="0"/>
              </a:spcAft>
              <a:buNone/>
            </a:pPr>
            <a:r>
              <a:rPr lang="en" b="1">
                <a:solidFill>
                  <a:schemeClr val="dk1"/>
                </a:solidFill>
              </a:rPr>
              <a:t>Note to Visitors</a:t>
            </a:r>
            <a:r>
              <a:rPr lang="en"/>
              <a:t> - If got this far, send me a message! I’d love to hear your thoughts on this research.</a:t>
            </a:r>
            <a:endParaRPr/>
          </a:p>
          <a:p>
            <a:pPr marL="0" lvl="0" indent="0" algn="l" rtl="0">
              <a:spcBef>
                <a:spcPts val="0"/>
              </a:spcBef>
              <a:spcAft>
                <a:spcPts val="0"/>
              </a:spcAft>
              <a:buNone/>
            </a:pPr>
            <a:r>
              <a:rPr lang="en"/>
              <a:t>--</a:t>
            </a:r>
            <a:endParaRPr/>
          </a:p>
          <a:p>
            <a:pPr marL="0" lvl="0" indent="0" algn="l" rtl="0">
              <a:spcBef>
                <a:spcPts val="0"/>
              </a:spcBef>
              <a:spcAft>
                <a:spcPts val="0"/>
              </a:spcAft>
              <a:buNone/>
            </a:pPr>
            <a:endParaRPr/>
          </a:p>
          <a:p>
            <a:pPr marL="0" lvl="0" indent="0" algn="l" rtl="0">
              <a:spcBef>
                <a:spcPts val="0"/>
              </a:spcBef>
              <a:spcAft>
                <a:spcPts val="0"/>
              </a:spcAft>
              <a:buNone/>
            </a:pPr>
            <a:r>
              <a:rPr lang="en" b="1"/>
              <a:t>Notes to Self</a:t>
            </a:r>
            <a:endParaRPr b="1"/>
          </a:p>
          <a:p>
            <a:pPr marL="0" lvl="0" indent="0" algn="l" rtl="0">
              <a:spcBef>
                <a:spcPts val="0"/>
              </a:spcBef>
              <a:spcAft>
                <a:spcPts val="0"/>
              </a:spcAft>
              <a:buNone/>
            </a:pPr>
            <a:endParaRPr/>
          </a:p>
          <a:p>
            <a:pPr marL="0" lvl="0" indent="0" algn="l" rtl="0">
              <a:spcBef>
                <a:spcPts val="0"/>
              </a:spcBef>
              <a:spcAft>
                <a:spcPts val="0"/>
              </a:spcAft>
              <a:buNone/>
            </a:pPr>
            <a:r>
              <a:rPr lang="en"/>
              <a:t>When taking questions, repeat the question before asking.</a:t>
            </a:r>
            <a:endParaRPr/>
          </a:p>
          <a:p>
            <a:pPr marL="0" lvl="0" indent="0" algn="l" rtl="0">
              <a:spcBef>
                <a:spcPts val="0"/>
              </a:spcBef>
              <a:spcAft>
                <a:spcPts val="0"/>
              </a:spcAft>
              <a:buNone/>
            </a:pPr>
            <a:endParaRPr/>
          </a:p>
          <a:p>
            <a:pPr marL="0" lvl="0" indent="0" algn="l" rtl="0">
              <a:spcBef>
                <a:spcPts val="0"/>
              </a:spcBef>
              <a:spcAft>
                <a:spcPts val="0"/>
              </a:spcAft>
              <a:buNone/>
            </a:pPr>
            <a:r>
              <a:rPr lang="en"/>
              <a:t>Here is an additional list of </a:t>
            </a:r>
            <a:r>
              <a:rPr lang="en">
                <a:solidFill>
                  <a:schemeClr val="dk1"/>
                </a:solidFill>
              </a:rPr>
              <a:t>material that wasn’t fully explained in the presentation but would be interesting to dive further into. </a:t>
            </a:r>
            <a:endParaRPr/>
          </a:p>
          <a:p>
            <a:pPr marL="0" lvl="0" indent="0" algn="l" rtl="0">
              <a:spcBef>
                <a:spcPts val="0"/>
              </a:spcBef>
              <a:spcAft>
                <a:spcPts val="0"/>
              </a:spcAft>
              <a:buNone/>
            </a:pPr>
            <a:endParaRPr/>
          </a:p>
          <a:p>
            <a:pPr marL="0" lvl="0" indent="0" algn="l" rtl="0">
              <a:spcBef>
                <a:spcPts val="0"/>
              </a:spcBef>
              <a:spcAft>
                <a:spcPts val="0"/>
              </a:spcAft>
              <a:buNone/>
            </a:pPr>
            <a:r>
              <a:rPr lang="en"/>
              <a:t>Additional Talking Points</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solidFill>
                  <a:schemeClr val="dk1"/>
                </a:solidFill>
              </a:rPr>
              <a:t>Define compute in more detail.</a:t>
            </a:r>
            <a:endParaRPr>
              <a:solidFill>
                <a:schemeClr val="dk1"/>
              </a:solidFill>
            </a:endParaRPr>
          </a:p>
          <a:p>
            <a:pPr marL="0" lvl="0" indent="0" algn="l" rtl="0">
              <a:spcBef>
                <a:spcPts val="0"/>
              </a:spcBef>
              <a:spcAft>
                <a:spcPts val="0"/>
              </a:spcAft>
              <a:buNone/>
            </a:pPr>
            <a:endParaRPr>
              <a:solidFill>
                <a:schemeClr val="dk1"/>
              </a:solidFill>
            </a:endParaRPr>
          </a:p>
          <a:p>
            <a:pPr marL="457200" lvl="0" indent="-298450" algn="l" rtl="0">
              <a:spcBef>
                <a:spcPts val="0"/>
              </a:spcBef>
              <a:spcAft>
                <a:spcPts val="0"/>
              </a:spcAft>
              <a:buSzPts val="1100"/>
              <a:buChar char="-"/>
            </a:pPr>
            <a:r>
              <a:rPr lang="en"/>
              <a:t>Discuss how the process used to smooth the lines (gaussian filter).</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Only the Reformer model showed the tiered pareto frontier. Discuss why.</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Reformer showed the best power laws in the comparison.</a:t>
            </a:r>
            <a:endParaRPr/>
          </a:p>
          <a:p>
            <a:pPr marL="457200" lvl="0" indent="0" algn="l" rtl="0">
              <a:spcBef>
                <a:spcPts val="0"/>
              </a:spcBef>
              <a:spcAft>
                <a:spcPts val="0"/>
              </a:spcAft>
              <a:buNone/>
            </a:pPr>
            <a:r>
              <a:rPr lang="en"/>
              <a:t>Discuss some of the theories why and other transformers you’d like to experiment with to test this theory.</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L(C) scaling laws assume you are not data limited, discuss the amount of data that was trained on.</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Discuss why the curvature </a:t>
            </a:r>
            <a:r>
              <a:rPr lang="en">
                <a:solidFill>
                  <a:schemeClr val="dk1"/>
                </a:solidFill>
              </a:rPr>
              <a:t>(of the intermediate size models of reformer)</a:t>
            </a:r>
            <a:r>
              <a:rPr lang="en"/>
              <a:t> changes 2x instead of the usual 1x.</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671258" y="990800"/>
            <a:ext cx="7801500" cy="17301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2"/>
          <p:cNvSpPr txBox="1">
            <a:spLocks noGrp="1"/>
          </p:cNvSpPr>
          <p:nvPr>
            <p:ph type="subTitle" idx="1"/>
          </p:nvPr>
        </p:nvSpPr>
        <p:spPr>
          <a:xfrm>
            <a:off x="671250" y="3174876"/>
            <a:ext cx="7801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6" name="Google Shape;16;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71250" y="2141250"/>
            <a:ext cx="7852200" cy="861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Clr>
                <a:srgbClr val="97B5C4"/>
              </a:buClr>
              <a:buSzPts val="3000"/>
              <a:buFont typeface="Roboto"/>
              <a:buNone/>
              <a:defRPr b="1">
                <a:solidFill>
                  <a:srgbClr val="97B5C4"/>
                </a:solidFill>
                <a:latin typeface="Roboto"/>
                <a:ea typeface="Roboto"/>
                <a:cs typeface="Roboto"/>
                <a:sym typeface="Roboto"/>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FFFFFF"/>
              </a:buClr>
              <a:buSzPts val="1800"/>
              <a:buFont typeface="Roboto"/>
              <a:buChar char="●"/>
              <a:defRPr>
                <a:solidFill>
                  <a:srgbClr val="FFFFFF"/>
                </a:solidFill>
                <a:latin typeface="Roboto"/>
                <a:ea typeface="Roboto"/>
                <a:cs typeface="Roboto"/>
                <a:sym typeface="Roboto"/>
              </a:defRPr>
            </a:lvl1pPr>
            <a:lvl2pPr marL="914400" lvl="1" indent="-31750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marL="1371600" lvl="2" indent="-31750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marL="1828800" lvl="3" indent="-31750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marL="2286000" lvl="4" indent="-31750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marL="2743200" lvl="5" indent="-31750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marL="3200400" lvl="6" indent="-31750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marL="3657600" lvl="7" indent="-31750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marL="4114800" lvl="8" indent="-31750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a:endParaRPr/>
          </a:p>
        </p:txBody>
      </p:sp>
      <p:sp>
        <p:nvSpPr>
          <p:cNvPr id="23" name="Google Shape;23;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8" name="Google Shape;38;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2" name="Google Shape;42;p9"/>
          <p:cNvSpPr txBox="1">
            <a:spLocks noGrp="1"/>
          </p:cNvSpPr>
          <p:nvPr>
            <p:ph type="title"/>
          </p:nvPr>
        </p:nvSpPr>
        <p:spPr>
          <a:xfrm>
            <a:off x="265500" y="1081400"/>
            <a:ext cx="4045200" cy="1710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5" name="Google Shape;45;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8" name="Google Shape;48;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255275"/>
            <a:ext cx="8520600" cy="1890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pener">
  <p:cSld name="TITLE_1">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381000" y="2333773"/>
            <a:ext cx="8382000" cy="609600"/>
          </a:xfrm>
          <a:prstGeom prst="rect">
            <a:avLst/>
          </a:prstGeom>
        </p:spPr>
        <p:txBody>
          <a:bodyPr spcFirstLastPara="1" wrap="square" lIns="91425" tIns="91425" rIns="91425" bIns="91425" anchor="b" anchorCtr="0">
            <a:noAutofit/>
          </a:bodyPr>
          <a:lstStyle>
            <a:lvl1pPr lvl="0" rtl="0">
              <a:spcBef>
                <a:spcPts val="0"/>
              </a:spcBef>
              <a:spcAft>
                <a:spcPts val="0"/>
              </a:spcAft>
              <a:buNone/>
              <a:defRPr sz="3000">
                <a:solidFill>
                  <a:srgbClr val="FFFFFF"/>
                </a:solidFill>
                <a:latin typeface="Roboto Medium"/>
                <a:ea typeface="Roboto Medium"/>
                <a:cs typeface="Roboto Medium"/>
                <a:sym typeface="Roboto Medium"/>
              </a:defRPr>
            </a:lvl1pPr>
            <a:lvl2pPr lvl="1" rtl="0">
              <a:spcBef>
                <a:spcPts val="0"/>
              </a:spcBef>
              <a:spcAft>
                <a:spcPts val="0"/>
              </a:spcAft>
              <a:buNone/>
              <a:defRPr sz="3000">
                <a:solidFill>
                  <a:srgbClr val="FFFFFF"/>
                </a:solidFill>
                <a:latin typeface="Roboto Medium"/>
                <a:ea typeface="Roboto Medium"/>
                <a:cs typeface="Roboto Medium"/>
                <a:sym typeface="Roboto Medium"/>
              </a:defRPr>
            </a:lvl2pPr>
            <a:lvl3pPr lvl="2" rtl="0">
              <a:spcBef>
                <a:spcPts val="0"/>
              </a:spcBef>
              <a:spcAft>
                <a:spcPts val="0"/>
              </a:spcAft>
              <a:buNone/>
              <a:defRPr sz="3000">
                <a:solidFill>
                  <a:srgbClr val="FFFFFF"/>
                </a:solidFill>
                <a:latin typeface="Roboto Medium"/>
                <a:ea typeface="Roboto Medium"/>
                <a:cs typeface="Roboto Medium"/>
                <a:sym typeface="Roboto Medium"/>
              </a:defRPr>
            </a:lvl3pPr>
            <a:lvl4pPr lvl="3" rtl="0">
              <a:spcBef>
                <a:spcPts val="0"/>
              </a:spcBef>
              <a:spcAft>
                <a:spcPts val="0"/>
              </a:spcAft>
              <a:buNone/>
              <a:defRPr sz="3000">
                <a:solidFill>
                  <a:srgbClr val="FFFFFF"/>
                </a:solidFill>
                <a:latin typeface="Roboto Medium"/>
                <a:ea typeface="Roboto Medium"/>
                <a:cs typeface="Roboto Medium"/>
                <a:sym typeface="Roboto Medium"/>
              </a:defRPr>
            </a:lvl4pPr>
            <a:lvl5pPr lvl="4" rtl="0">
              <a:spcBef>
                <a:spcPts val="0"/>
              </a:spcBef>
              <a:spcAft>
                <a:spcPts val="0"/>
              </a:spcAft>
              <a:buNone/>
              <a:defRPr sz="3000">
                <a:solidFill>
                  <a:srgbClr val="FFFFFF"/>
                </a:solidFill>
                <a:latin typeface="Roboto Medium"/>
                <a:ea typeface="Roboto Medium"/>
                <a:cs typeface="Roboto Medium"/>
                <a:sym typeface="Roboto Medium"/>
              </a:defRPr>
            </a:lvl5pPr>
            <a:lvl6pPr lvl="5" rtl="0">
              <a:spcBef>
                <a:spcPts val="0"/>
              </a:spcBef>
              <a:spcAft>
                <a:spcPts val="0"/>
              </a:spcAft>
              <a:buNone/>
              <a:defRPr sz="3000">
                <a:solidFill>
                  <a:srgbClr val="FFFFFF"/>
                </a:solidFill>
                <a:latin typeface="Roboto Medium"/>
                <a:ea typeface="Roboto Medium"/>
                <a:cs typeface="Roboto Medium"/>
                <a:sym typeface="Roboto Medium"/>
              </a:defRPr>
            </a:lvl6pPr>
            <a:lvl7pPr lvl="6" rtl="0">
              <a:spcBef>
                <a:spcPts val="0"/>
              </a:spcBef>
              <a:spcAft>
                <a:spcPts val="0"/>
              </a:spcAft>
              <a:buNone/>
              <a:defRPr sz="3000">
                <a:solidFill>
                  <a:srgbClr val="FFFFFF"/>
                </a:solidFill>
                <a:latin typeface="Roboto Medium"/>
                <a:ea typeface="Roboto Medium"/>
                <a:cs typeface="Roboto Medium"/>
                <a:sym typeface="Roboto Medium"/>
              </a:defRPr>
            </a:lvl7pPr>
            <a:lvl8pPr lvl="7" rtl="0">
              <a:spcBef>
                <a:spcPts val="0"/>
              </a:spcBef>
              <a:spcAft>
                <a:spcPts val="0"/>
              </a:spcAft>
              <a:buNone/>
              <a:defRPr sz="3000">
                <a:solidFill>
                  <a:srgbClr val="FFFFFF"/>
                </a:solidFill>
                <a:latin typeface="Roboto Medium"/>
                <a:ea typeface="Roboto Medium"/>
                <a:cs typeface="Roboto Medium"/>
                <a:sym typeface="Roboto Medium"/>
              </a:defRPr>
            </a:lvl8pPr>
            <a:lvl9pPr lvl="8" rtl="0">
              <a:spcBef>
                <a:spcPts val="0"/>
              </a:spcBef>
              <a:spcAft>
                <a:spcPts val="0"/>
              </a:spcAft>
              <a:buNone/>
              <a:defRPr sz="3000">
                <a:solidFill>
                  <a:srgbClr val="FFFFFF"/>
                </a:solidFill>
                <a:latin typeface="Roboto Medium"/>
                <a:ea typeface="Roboto Medium"/>
                <a:cs typeface="Roboto Medium"/>
                <a:sym typeface="Roboto Medium"/>
              </a:defRPr>
            </a:lvl9pPr>
          </a:lstStyle>
          <a:p>
            <a:endParaRPr/>
          </a:p>
        </p:txBody>
      </p:sp>
      <p:sp>
        <p:nvSpPr>
          <p:cNvPr id="57" name="Google Shape;57;p13"/>
          <p:cNvSpPr txBox="1">
            <a:spLocks noGrp="1"/>
          </p:cNvSpPr>
          <p:nvPr>
            <p:ph type="subTitle" idx="1"/>
          </p:nvPr>
        </p:nvSpPr>
        <p:spPr>
          <a:xfrm>
            <a:off x="381000" y="2790973"/>
            <a:ext cx="8382000" cy="5334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000">
                <a:solidFill>
                  <a:srgbClr val="FFFFFF"/>
                </a:solidFill>
                <a:latin typeface="Roboto Light"/>
                <a:ea typeface="Roboto Light"/>
                <a:cs typeface="Roboto Light"/>
                <a:sym typeface="Roboto Light"/>
              </a:defRPr>
            </a:lvl1pPr>
            <a:lvl2pPr lvl="1" rtl="0">
              <a:spcBef>
                <a:spcPts val="1600"/>
              </a:spcBef>
              <a:spcAft>
                <a:spcPts val="0"/>
              </a:spcAft>
              <a:buNone/>
              <a:defRPr sz="2000">
                <a:solidFill>
                  <a:srgbClr val="FFFFFF"/>
                </a:solidFill>
                <a:latin typeface="Roboto Light"/>
                <a:ea typeface="Roboto Light"/>
                <a:cs typeface="Roboto Light"/>
                <a:sym typeface="Roboto Light"/>
              </a:defRPr>
            </a:lvl2pPr>
            <a:lvl3pPr lvl="2" rtl="0">
              <a:spcBef>
                <a:spcPts val="1600"/>
              </a:spcBef>
              <a:spcAft>
                <a:spcPts val="0"/>
              </a:spcAft>
              <a:buNone/>
              <a:defRPr sz="2000">
                <a:solidFill>
                  <a:srgbClr val="FFFFFF"/>
                </a:solidFill>
                <a:latin typeface="Roboto Light"/>
                <a:ea typeface="Roboto Light"/>
                <a:cs typeface="Roboto Light"/>
                <a:sym typeface="Roboto Light"/>
              </a:defRPr>
            </a:lvl3pPr>
            <a:lvl4pPr lvl="3" rtl="0">
              <a:spcBef>
                <a:spcPts val="1600"/>
              </a:spcBef>
              <a:spcAft>
                <a:spcPts val="0"/>
              </a:spcAft>
              <a:buNone/>
              <a:defRPr sz="2000">
                <a:solidFill>
                  <a:srgbClr val="FFFFFF"/>
                </a:solidFill>
                <a:latin typeface="Roboto Light"/>
                <a:ea typeface="Roboto Light"/>
                <a:cs typeface="Roboto Light"/>
                <a:sym typeface="Roboto Light"/>
              </a:defRPr>
            </a:lvl4pPr>
            <a:lvl5pPr lvl="4" rtl="0">
              <a:spcBef>
                <a:spcPts val="1600"/>
              </a:spcBef>
              <a:spcAft>
                <a:spcPts val="0"/>
              </a:spcAft>
              <a:buNone/>
              <a:defRPr sz="2000">
                <a:solidFill>
                  <a:srgbClr val="FFFFFF"/>
                </a:solidFill>
                <a:latin typeface="Roboto Light"/>
                <a:ea typeface="Roboto Light"/>
                <a:cs typeface="Roboto Light"/>
                <a:sym typeface="Roboto Light"/>
              </a:defRPr>
            </a:lvl5pPr>
            <a:lvl6pPr lvl="5" rtl="0">
              <a:spcBef>
                <a:spcPts val="1600"/>
              </a:spcBef>
              <a:spcAft>
                <a:spcPts val="0"/>
              </a:spcAft>
              <a:buNone/>
              <a:defRPr sz="2000">
                <a:solidFill>
                  <a:srgbClr val="FFFFFF"/>
                </a:solidFill>
                <a:latin typeface="Roboto Light"/>
                <a:ea typeface="Roboto Light"/>
                <a:cs typeface="Roboto Light"/>
                <a:sym typeface="Roboto Light"/>
              </a:defRPr>
            </a:lvl6pPr>
            <a:lvl7pPr lvl="6" rtl="0">
              <a:spcBef>
                <a:spcPts val="1600"/>
              </a:spcBef>
              <a:spcAft>
                <a:spcPts val="0"/>
              </a:spcAft>
              <a:buNone/>
              <a:defRPr sz="2000">
                <a:solidFill>
                  <a:srgbClr val="FFFFFF"/>
                </a:solidFill>
                <a:latin typeface="Roboto Light"/>
                <a:ea typeface="Roboto Light"/>
                <a:cs typeface="Roboto Light"/>
                <a:sym typeface="Roboto Light"/>
              </a:defRPr>
            </a:lvl7pPr>
            <a:lvl8pPr lvl="7" rtl="0">
              <a:spcBef>
                <a:spcPts val="1600"/>
              </a:spcBef>
              <a:spcAft>
                <a:spcPts val="0"/>
              </a:spcAft>
              <a:buNone/>
              <a:defRPr sz="2000">
                <a:solidFill>
                  <a:srgbClr val="FFFFFF"/>
                </a:solidFill>
                <a:latin typeface="Roboto Light"/>
                <a:ea typeface="Roboto Light"/>
                <a:cs typeface="Roboto Light"/>
                <a:sym typeface="Roboto Light"/>
              </a:defRPr>
            </a:lvl8pPr>
            <a:lvl9pPr lvl="8" rtl="0">
              <a:spcBef>
                <a:spcPts val="1600"/>
              </a:spcBef>
              <a:spcAft>
                <a:spcPts val="1600"/>
              </a:spcAft>
              <a:buNone/>
              <a:defRPr sz="2000">
                <a:solidFill>
                  <a:srgbClr val="FFFFFF"/>
                </a:solidFill>
                <a:latin typeface="Roboto Light"/>
                <a:ea typeface="Roboto Light"/>
                <a:cs typeface="Roboto Light"/>
                <a:sym typeface="Roboto Light"/>
              </a:defRPr>
            </a:lvl9pPr>
          </a:lstStyle>
          <a:p>
            <a:endParaRPr/>
          </a:p>
        </p:txBody>
      </p:sp>
      <p:sp>
        <p:nvSpPr>
          <p:cNvPr id="58" name="Google Shape;58;p13"/>
          <p:cNvSpPr txBox="1">
            <a:spLocks noGrp="1"/>
          </p:cNvSpPr>
          <p:nvPr>
            <p:ph type="subTitle" idx="2"/>
          </p:nvPr>
        </p:nvSpPr>
        <p:spPr>
          <a:xfrm>
            <a:off x="381000" y="4495800"/>
            <a:ext cx="8382000" cy="304800"/>
          </a:xfrm>
          <a:prstGeom prst="rect">
            <a:avLst/>
          </a:prstGeom>
        </p:spPr>
        <p:txBody>
          <a:bodyPr spcFirstLastPara="1" wrap="square" lIns="91425" tIns="91425" rIns="91425" bIns="91425" anchor="b" anchorCtr="0">
            <a:noAutofit/>
          </a:bodyPr>
          <a:lstStyle>
            <a:lvl1pPr lvl="0" rtl="0">
              <a:spcBef>
                <a:spcPts val="0"/>
              </a:spcBef>
              <a:spcAft>
                <a:spcPts val="0"/>
              </a:spcAft>
              <a:buNone/>
              <a:defRPr sz="1000">
                <a:solidFill>
                  <a:srgbClr val="FFFFFF"/>
                </a:solidFill>
                <a:latin typeface="Roboto Medium"/>
                <a:ea typeface="Roboto Medium"/>
                <a:cs typeface="Roboto Medium"/>
                <a:sym typeface="Roboto Medium"/>
              </a:defRPr>
            </a:lvl1pPr>
            <a:lvl2pPr lvl="1" rtl="0">
              <a:spcBef>
                <a:spcPts val="1600"/>
              </a:spcBef>
              <a:spcAft>
                <a:spcPts val="0"/>
              </a:spcAft>
              <a:buNone/>
              <a:defRPr sz="1000">
                <a:solidFill>
                  <a:srgbClr val="FFFFFF"/>
                </a:solidFill>
                <a:latin typeface="Roboto Medium"/>
                <a:ea typeface="Roboto Medium"/>
                <a:cs typeface="Roboto Medium"/>
                <a:sym typeface="Roboto Medium"/>
              </a:defRPr>
            </a:lvl2pPr>
            <a:lvl3pPr lvl="2" rtl="0">
              <a:spcBef>
                <a:spcPts val="1600"/>
              </a:spcBef>
              <a:spcAft>
                <a:spcPts val="0"/>
              </a:spcAft>
              <a:buNone/>
              <a:defRPr sz="1000">
                <a:solidFill>
                  <a:srgbClr val="FFFFFF"/>
                </a:solidFill>
                <a:latin typeface="Roboto Medium"/>
                <a:ea typeface="Roboto Medium"/>
                <a:cs typeface="Roboto Medium"/>
                <a:sym typeface="Roboto Medium"/>
              </a:defRPr>
            </a:lvl3pPr>
            <a:lvl4pPr lvl="3" rtl="0">
              <a:spcBef>
                <a:spcPts val="1600"/>
              </a:spcBef>
              <a:spcAft>
                <a:spcPts val="0"/>
              </a:spcAft>
              <a:buNone/>
              <a:defRPr sz="1000">
                <a:solidFill>
                  <a:srgbClr val="FFFFFF"/>
                </a:solidFill>
                <a:latin typeface="Roboto Medium"/>
                <a:ea typeface="Roboto Medium"/>
                <a:cs typeface="Roboto Medium"/>
                <a:sym typeface="Roboto Medium"/>
              </a:defRPr>
            </a:lvl4pPr>
            <a:lvl5pPr lvl="4" rtl="0">
              <a:spcBef>
                <a:spcPts val="1600"/>
              </a:spcBef>
              <a:spcAft>
                <a:spcPts val="0"/>
              </a:spcAft>
              <a:buNone/>
              <a:defRPr sz="1000">
                <a:solidFill>
                  <a:srgbClr val="FFFFFF"/>
                </a:solidFill>
                <a:latin typeface="Roboto Medium"/>
                <a:ea typeface="Roboto Medium"/>
                <a:cs typeface="Roboto Medium"/>
                <a:sym typeface="Roboto Medium"/>
              </a:defRPr>
            </a:lvl5pPr>
            <a:lvl6pPr lvl="5" rtl="0">
              <a:spcBef>
                <a:spcPts val="1600"/>
              </a:spcBef>
              <a:spcAft>
                <a:spcPts val="0"/>
              </a:spcAft>
              <a:buNone/>
              <a:defRPr sz="1000">
                <a:solidFill>
                  <a:srgbClr val="FFFFFF"/>
                </a:solidFill>
                <a:latin typeface="Roboto Medium"/>
                <a:ea typeface="Roboto Medium"/>
                <a:cs typeface="Roboto Medium"/>
                <a:sym typeface="Roboto Medium"/>
              </a:defRPr>
            </a:lvl6pPr>
            <a:lvl7pPr lvl="6" rtl="0">
              <a:spcBef>
                <a:spcPts val="1600"/>
              </a:spcBef>
              <a:spcAft>
                <a:spcPts val="0"/>
              </a:spcAft>
              <a:buNone/>
              <a:defRPr sz="1000">
                <a:solidFill>
                  <a:srgbClr val="FFFFFF"/>
                </a:solidFill>
                <a:latin typeface="Roboto Medium"/>
                <a:ea typeface="Roboto Medium"/>
                <a:cs typeface="Roboto Medium"/>
                <a:sym typeface="Roboto Medium"/>
              </a:defRPr>
            </a:lvl7pPr>
            <a:lvl8pPr lvl="7" rtl="0">
              <a:spcBef>
                <a:spcPts val="1600"/>
              </a:spcBef>
              <a:spcAft>
                <a:spcPts val="0"/>
              </a:spcAft>
              <a:buNone/>
              <a:defRPr sz="1000">
                <a:solidFill>
                  <a:srgbClr val="FFFFFF"/>
                </a:solidFill>
                <a:latin typeface="Roboto Medium"/>
                <a:ea typeface="Roboto Medium"/>
                <a:cs typeface="Roboto Medium"/>
                <a:sym typeface="Roboto Medium"/>
              </a:defRPr>
            </a:lvl8pPr>
            <a:lvl9pPr lvl="8" rtl="0">
              <a:spcBef>
                <a:spcPts val="1600"/>
              </a:spcBef>
              <a:spcAft>
                <a:spcPts val="1600"/>
              </a:spcAft>
              <a:buNone/>
              <a:defRPr sz="1000">
                <a:solidFill>
                  <a:srgbClr val="FFFFFF"/>
                </a:solidFill>
                <a:latin typeface="Roboto Medium"/>
                <a:ea typeface="Roboto Medium"/>
                <a:cs typeface="Roboto Medium"/>
                <a:sym typeface="Roboto Medium"/>
              </a:defRPr>
            </a:lvl9pPr>
          </a:lstStyle>
          <a:p>
            <a:endParaRPr/>
          </a:p>
        </p:txBody>
      </p:sp>
      <p:pic>
        <p:nvPicPr>
          <p:cNvPr id="59" name="Google Shape;59;p13"/>
          <p:cNvPicPr preferRelativeResize="0"/>
          <p:nvPr/>
        </p:nvPicPr>
        <p:blipFill>
          <a:blip r:embed="rId3">
            <a:alphaModFix/>
          </a:blip>
          <a:stretch>
            <a:fillRect/>
          </a:stretch>
        </p:blipFill>
        <p:spPr>
          <a:xfrm>
            <a:off x="484450" y="1012369"/>
            <a:ext cx="1050600" cy="263450"/>
          </a:xfrm>
          <a:prstGeom prst="rect">
            <a:avLst/>
          </a:prstGeom>
          <a:noFill/>
          <a:ln>
            <a:noFill/>
          </a:ln>
        </p:spPr>
      </p:pic>
      <p:pic>
        <p:nvPicPr>
          <p:cNvPr id="60" name="Google Shape;60;p13"/>
          <p:cNvPicPr preferRelativeResize="0"/>
          <p:nvPr/>
        </p:nvPicPr>
        <p:blipFill>
          <a:blip r:embed="rId4">
            <a:alphaModFix/>
          </a:blip>
          <a:stretch>
            <a:fillRect/>
          </a:stretch>
        </p:blipFill>
        <p:spPr>
          <a:xfrm>
            <a:off x="456025" y="485245"/>
            <a:ext cx="425201" cy="42520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aragraph">
  <p:cSld name="CUSTOM_2">
    <p:spTree>
      <p:nvGrpSpPr>
        <p:cNvPr id="1" name="Shape 61"/>
        <p:cNvGrpSpPr/>
        <p:nvPr/>
      </p:nvGrpSpPr>
      <p:grpSpPr>
        <a:xfrm>
          <a:off x="0" y="0"/>
          <a:ext cx="0" cy="0"/>
          <a:chOff x="0" y="0"/>
          <a:chExt cx="0" cy="0"/>
        </a:xfrm>
      </p:grpSpPr>
      <p:sp>
        <p:nvSpPr>
          <p:cNvPr id="62" name="Google Shape;62;p14"/>
          <p:cNvSpPr txBox="1">
            <a:spLocks noGrp="1"/>
          </p:cNvSpPr>
          <p:nvPr>
            <p:ph type="body" idx="1"/>
          </p:nvPr>
        </p:nvSpPr>
        <p:spPr>
          <a:xfrm>
            <a:off x="381000" y="990600"/>
            <a:ext cx="6400800" cy="3733800"/>
          </a:xfrm>
          <a:prstGeom prst="rect">
            <a:avLst/>
          </a:prstGeom>
        </p:spPr>
        <p:txBody>
          <a:bodyPr spcFirstLastPara="1" wrap="square" lIns="91425" tIns="91425" rIns="91425" bIns="91425" anchor="t" anchorCtr="0">
            <a:noAutofit/>
          </a:bodyPr>
          <a:lstStyle>
            <a:lvl1pPr marL="457200" lvl="0" indent="-355600" rtl="0">
              <a:spcBef>
                <a:spcPts val="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1pPr>
            <a:lvl2pPr marL="914400" lvl="1" indent="-355600" rtl="0">
              <a:spcBef>
                <a:spcPts val="160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2pPr>
            <a:lvl3pPr marL="1371600" lvl="2" indent="-355600" rtl="0">
              <a:spcBef>
                <a:spcPts val="160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3pPr>
            <a:lvl4pPr marL="1828800" lvl="3" indent="-355600" rtl="0">
              <a:spcBef>
                <a:spcPts val="160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4pPr>
            <a:lvl5pPr marL="2286000" lvl="4" indent="-355600" rtl="0">
              <a:spcBef>
                <a:spcPts val="160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5pPr>
            <a:lvl6pPr marL="2743200" lvl="5" indent="-355600" rtl="0">
              <a:spcBef>
                <a:spcPts val="160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6pPr>
            <a:lvl7pPr marL="3200400" lvl="6" indent="-355600" rtl="0">
              <a:spcBef>
                <a:spcPts val="160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7pPr>
            <a:lvl8pPr marL="3657600" lvl="7" indent="-355600" rtl="0">
              <a:spcBef>
                <a:spcPts val="1600"/>
              </a:spcBef>
              <a:spcAft>
                <a:spcPts val="0"/>
              </a:spcAft>
              <a:buClr>
                <a:srgbClr val="FFFFFF"/>
              </a:buClr>
              <a:buSzPts val="2000"/>
              <a:buFont typeface="Roboto Light"/>
              <a:buChar char="○"/>
              <a:defRPr sz="2000">
                <a:solidFill>
                  <a:srgbClr val="FFFFFF"/>
                </a:solidFill>
                <a:latin typeface="Roboto Light"/>
                <a:ea typeface="Roboto Light"/>
                <a:cs typeface="Roboto Light"/>
                <a:sym typeface="Roboto Light"/>
              </a:defRPr>
            </a:lvl8pPr>
            <a:lvl9pPr marL="4114800" lvl="8" indent="-355600" rtl="0">
              <a:spcBef>
                <a:spcPts val="1600"/>
              </a:spcBef>
              <a:spcAft>
                <a:spcPts val="1600"/>
              </a:spcAft>
              <a:buClr>
                <a:srgbClr val="FFFFFF"/>
              </a:buClr>
              <a:buSzPts val="2000"/>
              <a:buFont typeface="Roboto Light"/>
              <a:buChar char="■"/>
              <a:defRPr sz="2000">
                <a:solidFill>
                  <a:srgbClr val="FFFFFF"/>
                </a:solidFill>
                <a:latin typeface="Roboto Light"/>
                <a:ea typeface="Roboto Light"/>
                <a:cs typeface="Roboto Light"/>
                <a:sym typeface="Roboto Light"/>
              </a:defRPr>
            </a:lvl9pPr>
          </a:lstStyle>
          <a:p>
            <a:endParaRPr/>
          </a:p>
        </p:txBody>
      </p:sp>
      <p:sp>
        <p:nvSpPr>
          <p:cNvPr id="63" name="Google Shape;63;p14"/>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000">
                <a:solidFill>
                  <a:srgbClr val="FFFFFF"/>
                </a:solidFill>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age Title Only">
  <p:cSld name="CUSTOM_2_1">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000">
                <a:solidFill>
                  <a:srgbClr val="FFFFFF"/>
                </a:solidFill>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381000" y="2333773"/>
            <a:ext cx="8382000" cy="60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800"/>
              <a:t>Scaling Laws for Transformer Architecture Variants</a:t>
            </a:r>
            <a:endParaRPr sz="2800"/>
          </a:p>
        </p:txBody>
      </p:sp>
      <p:sp>
        <p:nvSpPr>
          <p:cNvPr id="71" name="Google Shape;71;p16"/>
          <p:cNvSpPr txBox="1">
            <a:spLocks noGrp="1"/>
          </p:cNvSpPr>
          <p:nvPr>
            <p:ph type="subTitle" idx="1"/>
          </p:nvPr>
        </p:nvSpPr>
        <p:spPr>
          <a:xfrm>
            <a:off x="381000" y="2790973"/>
            <a:ext cx="8382000" cy="533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By Jennifer Oyedele</a:t>
            </a:r>
            <a:endParaRPr/>
          </a:p>
        </p:txBody>
      </p:sp>
      <p:sp>
        <p:nvSpPr>
          <p:cNvPr id="72" name="Google Shape;72;p16"/>
          <p:cNvSpPr txBox="1">
            <a:spLocks noGrp="1"/>
          </p:cNvSpPr>
          <p:nvPr>
            <p:ph type="subTitle" idx="2"/>
          </p:nvPr>
        </p:nvSpPr>
        <p:spPr>
          <a:xfrm>
            <a:off x="381000" y="4495800"/>
            <a:ext cx="8382000" cy="304800"/>
          </a:xfrm>
          <a:prstGeom prst="rect">
            <a:avLst/>
          </a:prstGeom>
        </p:spPr>
        <p:txBody>
          <a:bodyPr spcFirstLastPara="1" wrap="square" lIns="91425" tIns="91425" rIns="91425" bIns="91425" anchor="b" anchorCtr="0">
            <a:noAutofit/>
          </a:bodyPr>
          <a:lstStyle/>
          <a:p>
            <a:pPr marL="0" lvl="0" indent="0" algn="l" rtl="0">
              <a:spcBef>
                <a:spcPts val="0"/>
              </a:spcBef>
              <a:spcAft>
                <a:spcPts val="1600"/>
              </a:spcAft>
              <a:buNone/>
            </a:pPr>
            <a:r>
              <a:rPr lang="en"/>
              <a:t>April 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76"/>
        <p:cNvGrpSpPr/>
        <p:nvPr/>
      </p:nvGrpSpPr>
      <p:grpSpPr>
        <a:xfrm>
          <a:off x="0" y="0"/>
          <a:ext cx="0" cy="0"/>
          <a:chOff x="0" y="0"/>
          <a:chExt cx="0" cy="0"/>
        </a:xfrm>
      </p:grpSpPr>
      <p:sp>
        <p:nvSpPr>
          <p:cNvPr id="77" name="Google Shape;77;p17"/>
          <p:cNvSpPr txBox="1">
            <a:spLocks noGrp="1"/>
          </p:cNvSpPr>
          <p:nvPr>
            <p:ph type="body" idx="1"/>
          </p:nvPr>
        </p:nvSpPr>
        <p:spPr>
          <a:xfrm>
            <a:off x="381000" y="987525"/>
            <a:ext cx="1817100" cy="3736800"/>
          </a:xfrm>
          <a:prstGeom prst="rect">
            <a:avLst/>
          </a:prstGeom>
        </p:spPr>
        <p:txBody>
          <a:bodyPr spcFirstLastPara="1" wrap="square" lIns="91425" tIns="91425" rIns="91425" bIns="91425" anchor="t" anchorCtr="0">
            <a:noAutofit/>
          </a:bodyPr>
          <a:lstStyle/>
          <a:p>
            <a:pPr marL="0" lvl="0" indent="0" algn="r" rtl="0">
              <a:lnSpc>
                <a:spcPct val="150000"/>
              </a:lnSpc>
              <a:spcBef>
                <a:spcPts val="0"/>
              </a:spcBef>
              <a:spcAft>
                <a:spcPts val="0"/>
              </a:spcAft>
              <a:buNone/>
            </a:pPr>
            <a:r>
              <a:rPr lang="en" sz="1600"/>
              <a:t>Problem</a:t>
            </a:r>
            <a:endParaRPr sz="1600">
              <a:solidFill>
                <a:schemeClr val="dk1"/>
              </a:solidFill>
            </a:endParaRPr>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r>
              <a:rPr lang="en" sz="1600"/>
              <a:t>Experiments</a:t>
            </a:r>
            <a:endParaRPr sz="1600"/>
          </a:p>
          <a:p>
            <a:pPr marL="0" lvl="0" indent="0" algn="l"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r>
              <a:rPr lang="en" sz="1600"/>
              <a:t>Future</a:t>
            </a:r>
            <a:endParaRPr sz="1600"/>
          </a:p>
        </p:txBody>
      </p:sp>
      <p:sp>
        <p:nvSpPr>
          <p:cNvPr id="78" name="Google Shape;78;p17"/>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79" name="Google Shape;79;p17"/>
          <p:cNvSpPr txBox="1">
            <a:spLocks noGrp="1"/>
          </p:cNvSpPr>
          <p:nvPr>
            <p:ph type="body" idx="1"/>
          </p:nvPr>
        </p:nvSpPr>
        <p:spPr>
          <a:xfrm>
            <a:off x="2478600" y="987525"/>
            <a:ext cx="6284400" cy="3736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chemeClr val="dk1"/>
                </a:solidFill>
              </a:rPr>
              <a:t>Existing Research</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Motivation</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Background</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Hypothesis</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Methodology</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Preliminary Findings</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Research Limitations</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Why It Matters</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What’s Next</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Thank you</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81000" y="381000"/>
            <a:ext cx="8382000" cy="71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Scaling Laws for language model performance show that loss scales </a:t>
            </a:r>
            <a:endParaRPr/>
          </a:p>
          <a:p>
            <a:pPr marL="0" lvl="0" indent="0" algn="l" rtl="0">
              <a:spcBef>
                <a:spcPts val="0"/>
              </a:spcBef>
              <a:spcAft>
                <a:spcPts val="0"/>
              </a:spcAft>
              <a:buNone/>
            </a:pPr>
            <a:r>
              <a:rPr lang="en"/>
              <a:t>as a power-law with model size, dataset size, and compute.</a:t>
            </a:r>
            <a:endParaRPr/>
          </a:p>
        </p:txBody>
      </p:sp>
      <p:pic>
        <p:nvPicPr>
          <p:cNvPr id="85" name="Google Shape;85;p18"/>
          <p:cNvPicPr preferRelativeResize="0"/>
          <p:nvPr/>
        </p:nvPicPr>
        <p:blipFill rotWithShape="1">
          <a:blip r:embed="rId3">
            <a:alphaModFix/>
          </a:blip>
          <a:srcRect l="2887" r="1829" b="7969"/>
          <a:stretch/>
        </p:blipFill>
        <p:spPr>
          <a:xfrm>
            <a:off x="827325" y="1482475"/>
            <a:ext cx="3290136" cy="2606049"/>
          </a:xfrm>
          <a:prstGeom prst="rect">
            <a:avLst/>
          </a:prstGeom>
          <a:noFill/>
          <a:ln>
            <a:noFill/>
          </a:ln>
        </p:spPr>
      </p:pic>
      <p:sp>
        <p:nvSpPr>
          <p:cNvPr id="86" name="Google Shape;86;p18"/>
          <p:cNvSpPr txBox="1"/>
          <p:nvPr/>
        </p:nvSpPr>
        <p:spPr>
          <a:xfrm>
            <a:off x="751125" y="4151000"/>
            <a:ext cx="40941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FFFF"/>
                </a:solidFill>
                <a:latin typeface="Roboto Light"/>
                <a:ea typeface="Roboto Light"/>
                <a:cs typeface="Roboto Light"/>
                <a:sym typeface="Roboto Light"/>
              </a:rPr>
              <a:t>Figure from Kaplan &amp; McCandlish et al. </a:t>
            </a:r>
            <a:endParaRPr sz="400">
              <a:solidFill>
                <a:srgbClr val="FFFFFF"/>
              </a:solidFill>
              <a:latin typeface="Roboto Light"/>
              <a:ea typeface="Roboto Light"/>
              <a:cs typeface="Roboto Light"/>
              <a:sym typeface="Roboto Light"/>
            </a:endParaRPr>
          </a:p>
        </p:txBody>
      </p:sp>
      <p:sp>
        <p:nvSpPr>
          <p:cNvPr id="87" name="Google Shape;87;p18"/>
          <p:cNvSpPr txBox="1">
            <a:spLocks noGrp="1"/>
          </p:cNvSpPr>
          <p:nvPr>
            <p:ph type="body" idx="1"/>
          </p:nvPr>
        </p:nvSpPr>
        <p:spPr>
          <a:xfrm>
            <a:off x="4588625" y="1482065"/>
            <a:ext cx="2414700" cy="551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3000"/>
              <a:t>L = ( k C ) </a:t>
            </a:r>
            <a:r>
              <a:rPr lang="en" sz="3000" baseline="30000"/>
              <a:t>m</a:t>
            </a:r>
            <a:endParaRPr sz="3000" baseline="30000"/>
          </a:p>
        </p:txBody>
      </p:sp>
      <p:sp>
        <p:nvSpPr>
          <p:cNvPr id="88" name="Google Shape;88;p18"/>
          <p:cNvSpPr txBox="1">
            <a:spLocks noGrp="1"/>
          </p:cNvSpPr>
          <p:nvPr>
            <p:ph type="body" idx="1"/>
          </p:nvPr>
        </p:nvSpPr>
        <p:spPr>
          <a:xfrm>
            <a:off x="731725" y="4716025"/>
            <a:ext cx="3538800" cy="23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a:t>* Compute is measured in PFs-days (Petaflop-second per day)</a:t>
            </a:r>
            <a:endParaRPr sz="900"/>
          </a:p>
        </p:txBody>
      </p:sp>
      <p:sp>
        <p:nvSpPr>
          <p:cNvPr id="89" name="Google Shape;89;p18"/>
          <p:cNvSpPr txBox="1">
            <a:spLocks noGrp="1"/>
          </p:cNvSpPr>
          <p:nvPr>
            <p:ph type="body" idx="1"/>
          </p:nvPr>
        </p:nvSpPr>
        <p:spPr>
          <a:xfrm>
            <a:off x="5322029" y="2892675"/>
            <a:ext cx="1063500" cy="23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t>Constant</a:t>
            </a:r>
            <a:endParaRPr sz="1200" baseline="30000"/>
          </a:p>
        </p:txBody>
      </p:sp>
      <p:sp>
        <p:nvSpPr>
          <p:cNvPr id="90" name="Google Shape;90;p18"/>
          <p:cNvSpPr txBox="1">
            <a:spLocks noGrp="1"/>
          </p:cNvSpPr>
          <p:nvPr>
            <p:ph type="body" idx="1"/>
          </p:nvPr>
        </p:nvSpPr>
        <p:spPr>
          <a:xfrm>
            <a:off x="6895499" y="1542075"/>
            <a:ext cx="1597800" cy="784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t>Constant term controls tradeoff between </a:t>
            </a:r>
            <a:endParaRPr sz="1100"/>
          </a:p>
          <a:p>
            <a:pPr marL="0" lvl="0" indent="0" algn="l" rtl="0">
              <a:lnSpc>
                <a:spcPct val="115000"/>
              </a:lnSpc>
              <a:spcBef>
                <a:spcPts val="0"/>
              </a:spcBef>
              <a:spcAft>
                <a:spcPts val="0"/>
              </a:spcAft>
              <a:buNone/>
            </a:pPr>
            <a:r>
              <a:rPr lang="en" sz="1100"/>
              <a:t>loss and compute</a:t>
            </a:r>
            <a:endParaRPr sz="1100" baseline="30000"/>
          </a:p>
        </p:txBody>
      </p:sp>
      <p:sp>
        <p:nvSpPr>
          <p:cNvPr id="91" name="Google Shape;91;p18"/>
          <p:cNvSpPr txBox="1">
            <a:spLocks noGrp="1"/>
          </p:cNvSpPr>
          <p:nvPr>
            <p:ph type="body" idx="1"/>
          </p:nvPr>
        </p:nvSpPr>
        <p:spPr>
          <a:xfrm>
            <a:off x="5684078" y="2527175"/>
            <a:ext cx="1063500" cy="23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t>Compute</a:t>
            </a:r>
            <a:endParaRPr sz="1200" baseline="30000"/>
          </a:p>
        </p:txBody>
      </p:sp>
      <p:cxnSp>
        <p:nvCxnSpPr>
          <p:cNvPr id="92" name="Google Shape;92;p18"/>
          <p:cNvCxnSpPr/>
          <p:nvPr/>
        </p:nvCxnSpPr>
        <p:spPr>
          <a:xfrm>
            <a:off x="5598147" y="2090573"/>
            <a:ext cx="5100" cy="784200"/>
          </a:xfrm>
          <a:prstGeom prst="straightConnector1">
            <a:avLst/>
          </a:prstGeom>
          <a:noFill/>
          <a:ln w="19050" cap="flat" cmpd="sng">
            <a:solidFill>
              <a:schemeClr val="dk1"/>
            </a:solidFill>
            <a:prstDash val="solid"/>
            <a:round/>
            <a:headEnd type="none" w="med" len="med"/>
            <a:tailEnd type="triangle" w="med" len="med"/>
          </a:ln>
        </p:spPr>
      </p:cxnSp>
      <p:cxnSp>
        <p:nvCxnSpPr>
          <p:cNvPr id="93" name="Google Shape;93;p18"/>
          <p:cNvCxnSpPr/>
          <p:nvPr/>
        </p:nvCxnSpPr>
        <p:spPr>
          <a:xfrm>
            <a:off x="5890985" y="2090573"/>
            <a:ext cx="900" cy="379200"/>
          </a:xfrm>
          <a:prstGeom prst="straightConnector1">
            <a:avLst/>
          </a:prstGeom>
          <a:noFill/>
          <a:ln w="19050" cap="flat" cmpd="sng">
            <a:solidFill>
              <a:schemeClr val="dk1"/>
            </a:solidFill>
            <a:prstDash val="solid"/>
            <a:round/>
            <a:headEnd type="none" w="med" len="med"/>
            <a:tailEnd type="triangle" w="med" len="med"/>
          </a:ln>
        </p:spPr>
      </p:cxnSp>
      <p:cxnSp>
        <p:nvCxnSpPr>
          <p:cNvPr id="94" name="Google Shape;94;p18"/>
          <p:cNvCxnSpPr/>
          <p:nvPr/>
        </p:nvCxnSpPr>
        <p:spPr>
          <a:xfrm>
            <a:off x="6650270" y="1714509"/>
            <a:ext cx="202500" cy="0"/>
          </a:xfrm>
          <a:prstGeom prst="straightConnector1">
            <a:avLst/>
          </a:prstGeom>
          <a:noFill/>
          <a:ln w="19050" cap="flat" cmpd="sng">
            <a:solidFill>
              <a:schemeClr val="dk1"/>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98"/>
        <p:cNvGrpSpPr/>
        <p:nvPr/>
      </p:nvGrpSpPr>
      <p:grpSpPr>
        <a:xfrm>
          <a:off x="0" y="0"/>
          <a:ext cx="0" cy="0"/>
          <a:chOff x="0" y="0"/>
          <a:chExt cx="0" cy="0"/>
        </a:xfrm>
      </p:grpSpPr>
      <p:sp>
        <p:nvSpPr>
          <p:cNvPr id="99" name="Google Shape;99;p19"/>
          <p:cNvSpPr txBox="1"/>
          <p:nvPr/>
        </p:nvSpPr>
        <p:spPr>
          <a:xfrm>
            <a:off x="6022275" y="4238825"/>
            <a:ext cx="3078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FFFF"/>
                </a:solidFill>
                <a:latin typeface="Roboto"/>
                <a:ea typeface="Roboto"/>
                <a:cs typeface="Roboto"/>
                <a:sym typeface="Roboto"/>
              </a:rPr>
              <a:t>linkedin.com/pulse/rise-transformers-imtiaz-adam/</a:t>
            </a:r>
            <a:endParaRPr sz="900">
              <a:solidFill>
                <a:srgbClr val="FFFFFF"/>
              </a:solidFill>
              <a:latin typeface="Roboto"/>
              <a:ea typeface="Roboto"/>
              <a:cs typeface="Roboto"/>
              <a:sym typeface="Roboto"/>
            </a:endParaRPr>
          </a:p>
        </p:txBody>
      </p:sp>
      <p:sp>
        <p:nvSpPr>
          <p:cNvPr id="100" name="Google Shape;100;p19"/>
          <p:cNvSpPr txBox="1"/>
          <p:nvPr/>
        </p:nvSpPr>
        <p:spPr>
          <a:xfrm>
            <a:off x="326525" y="4238825"/>
            <a:ext cx="2388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FFFF"/>
                </a:solidFill>
                <a:latin typeface="Roboto"/>
                <a:ea typeface="Roboto"/>
                <a:cs typeface="Roboto"/>
                <a:sym typeface="Roboto"/>
              </a:rPr>
              <a:t>blog.dataiku.com/</a:t>
            </a:r>
            <a:endParaRPr sz="900">
              <a:solidFill>
                <a:srgbClr val="FFFFFF"/>
              </a:solidFill>
              <a:latin typeface="Roboto"/>
              <a:ea typeface="Roboto"/>
              <a:cs typeface="Roboto"/>
              <a:sym typeface="Roboto"/>
            </a:endParaRPr>
          </a:p>
        </p:txBody>
      </p:sp>
      <p:pic>
        <p:nvPicPr>
          <p:cNvPr id="101" name="Google Shape;101;p19"/>
          <p:cNvPicPr preferRelativeResize="0"/>
          <p:nvPr/>
        </p:nvPicPr>
        <p:blipFill rotWithShape="1">
          <a:blip r:embed="rId3">
            <a:alphaModFix/>
          </a:blip>
          <a:srcRect b="29253"/>
          <a:stretch/>
        </p:blipFill>
        <p:spPr>
          <a:xfrm>
            <a:off x="3225350" y="923200"/>
            <a:ext cx="2388501" cy="3638727"/>
          </a:xfrm>
          <a:prstGeom prst="rect">
            <a:avLst/>
          </a:prstGeom>
          <a:noFill/>
          <a:ln>
            <a:noFill/>
          </a:ln>
        </p:spPr>
      </p:pic>
      <p:pic>
        <p:nvPicPr>
          <p:cNvPr id="102" name="Google Shape;102;p19"/>
          <p:cNvPicPr preferRelativeResize="0"/>
          <p:nvPr/>
        </p:nvPicPr>
        <p:blipFill rotWithShape="1">
          <a:blip r:embed="rId4">
            <a:alphaModFix/>
          </a:blip>
          <a:srcRect t="1997" b="26415"/>
          <a:stretch/>
        </p:blipFill>
        <p:spPr>
          <a:xfrm>
            <a:off x="6098475" y="515937"/>
            <a:ext cx="2568651" cy="3530076"/>
          </a:xfrm>
          <a:prstGeom prst="rect">
            <a:avLst/>
          </a:prstGeom>
          <a:noFill/>
          <a:ln>
            <a:noFill/>
          </a:ln>
        </p:spPr>
      </p:pic>
      <p:pic>
        <p:nvPicPr>
          <p:cNvPr id="103" name="Google Shape;103;p19"/>
          <p:cNvPicPr preferRelativeResize="0"/>
          <p:nvPr/>
        </p:nvPicPr>
        <p:blipFill rotWithShape="1">
          <a:blip r:embed="rId5">
            <a:alphaModFix/>
          </a:blip>
          <a:srcRect b="16184"/>
          <a:stretch/>
        </p:blipFill>
        <p:spPr>
          <a:xfrm>
            <a:off x="402725" y="467074"/>
            <a:ext cx="2388501" cy="3627801"/>
          </a:xfrm>
          <a:prstGeom prst="rect">
            <a:avLst/>
          </a:prstGeom>
          <a:noFill/>
          <a:ln>
            <a:noFill/>
          </a:ln>
        </p:spPr>
      </p:pic>
      <p:sp>
        <p:nvSpPr>
          <p:cNvPr id="104" name="Google Shape;104;p19"/>
          <p:cNvSpPr txBox="1"/>
          <p:nvPr/>
        </p:nvSpPr>
        <p:spPr>
          <a:xfrm>
            <a:off x="3149150" y="467075"/>
            <a:ext cx="30000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FFFF"/>
                </a:solidFill>
                <a:latin typeface="Roboto"/>
                <a:ea typeface="Roboto"/>
                <a:cs typeface="Roboto"/>
                <a:sym typeface="Roboto"/>
              </a:rPr>
              <a:t>thesequence.substack.com/</a:t>
            </a:r>
            <a:endParaRPr sz="900">
              <a:solidFill>
                <a:srgbClr val="FFFFF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08"/>
        <p:cNvGrpSpPr/>
        <p:nvPr/>
      </p:nvGrpSpPr>
      <p:grpSpPr>
        <a:xfrm>
          <a:off x="0" y="0"/>
          <a:ext cx="0" cy="0"/>
          <a:chOff x="0" y="0"/>
          <a:chExt cx="0" cy="0"/>
        </a:xfrm>
      </p:grpSpPr>
      <p:sp>
        <p:nvSpPr>
          <p:cNvPr id="109" name="Google Shape;109;p20"/>
          <p:cNvSpPr txBox="1">
            <a:spLocks noGrp="1"/>
          </p:cNvSpPr>
          <p:nvPr>
            <p:ph type="body" idx="1"/>
          </p:nvPr>
        </p:nvSpPr>
        <p:spPr>
          <a:xfrm>
            <a:off x="381000" y="717275"/>
            <a:ext cx="4039200" cy="3822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700"/>
          </a:p>
          <a:p>
            <a:pPr marL="0" lvl="0" indent="0" algn="l" rtl="0">
              <a:lnSpc>
                <a:spcPct val="115000"/>
              </a:lnSpc>
              <a:spcBef>
                <a:spcPts val="0"/>
              </a:spcBef>
              <a:spcAft>
                <a:spcPts val="0"/>
              </a:spcAft>
              <a:buNone/>
            </a:pPr>
            <a:endParaRPr sz="1700"/>
          </a:p>
          <a:p>
            <a:pPr marL="0" lvl="0" indent="0" algn="ctr" rtl="0">
              <a:lnSpc>
                <a:spcPct val="115000"/>
              </a:lnSpc>
              <a:spcBef>
                <a:spcPts val="0"/>
              </a:spcBef>
              <a:spcAft>
                <a:spcPts val="0"/>
              </a:spcAft>
              <a:buNone/>
            </a:pPr>
            <a:r>
              <a:rPr lang="en" sz="1700"/>
              <a:t>The young boy ate an ______</a:t>
            </a:r>
            <a:endParaRPr sz="1700"/>
          </a:p>
          <a:p>
            <a:pPr marL="0" lvl="0" indent="0" algn="ctr" rtl="0">
              <a:lnSpc>
                <a:spcPct val="115000"/>
              </a:lnSpc>
              <a:spcBef>
                <a:spcPts val="0"/>
              </a:spcBef>
              <a:spcAft>
                <a:spcPts val="0"/>
              </a:spcAft>
              <a:buNone/>
            </a:pPr>
            <a:endParaRPr sz="1700"/>
          </a:p>
          <a:p>
            <a:pPr marL="457200" lvl="0" indent="457200" algn="l" rtl="0">
              <a:lnSpc>
                <a:spcPct val="115000"/>
              </a:lnSpc>
              <a:spcBef>
                <a:spcPts val="0"/>
              </a:spcBef>
              <a:spcAft>
                <a:spcPts val="0"/>
              </a:spcAft>
              <a:buNone/>
            </a:pPr>
            <a:r>
              <a:rPr lang="en" sz="1400" b="1">
                <a:latin typeface="Roboto"/>
                <a:ea typeface="Roboto"/>
                <a:cs typeface="Roboto"/>
                <a:sym typeface="Roboto"/>
              </a:rPr>
              <a:t>Causal Language Modeling  </a:t>
            </a:r>
            <a:endParaRPr sz="1400" b="1">
              <a:latin typeface="Roboto"/>
              <a:ea typeface="Roboto"/>
              <a:cs typeface="Roboto"/>
              <a:sym typeface="Roboto"/>
            </a:endParaRPr>
          </a:p>
          <a:p>
            <a:pPr marL="457200" lvl="0" indent="457200" algn="l" rtl="0">
              <a:lnSpc>
                <a:spcPct val="115000"/>
              </a:lnSpc>
              <a:spcBef>
                <a:spcPts val="0"/>
              </a:spcBef>
              <a:spcAft>
                <a:spcPts val="0"/>
              </a:spcAft>
              <a:buNone/>
            </a:pPr>
            <a:r>
              <a:rPr lang="en" sz="1400" b="1">
                <a:latin typeface="Roboto"/>
                <a:ea typeface="Roboto"/>
                <a:cs typeface="Roboto"/>
                <a:sym typeface="Roboto"/>
              </a:rPr>
              <a:t>(decoder)</a:t>
            </a:r>
            <a:endParaRPr sz="1400" b="1">
              <a:latin typeface="Roboto"/>
              <a:ea typeface="Roboto"/>
              <a:cs typeface="Roboto"/>
              <a:sym typeface="Roboto"/>
            </a:endParaRPr>
          </a:p>
          <a:p>
            <a:pPr marL="0" lvl="0" indent="0" algn="ctr" rtl="0">
              <a:lnSpc>
                <a:spcPct val="115000"/>
              </a:lnSpc>
              <a:spcBef>
                <a:spcPts val="0"/>
              </a:spcBef>
              <a:spcAft>
                <a:spcPts val="0"/>
              </a:spcAft>
              <a:buNone/>
            </a:pPr>
            <a:endParaRPr sz="1700"/>
          </a:p>
          <a:p>
            <a:pPr marL="457200" lvl="0" indent="457200" algn="l" rtl="0">
              <a:spcBef>
                <a:spcPts val="0"/>
              </a:spcBef>
              <a:spcAft>
                <a:spcPts val="0"/>
              </a:spcAft>
              <a:buNone/>
            </a:pPr>
            <a:r>
              <a:rPr lang="en" sz="1400">
                <a:solidFill>
                  <a:schemeClr val="dk1"/>
                </a:solidFill>
              </a:rPr>
              <a:t>The ______</a:t>
            </a:r>
            <a:endParaRPr sz="1400">
              <a:solidFill>
                <a:schemeClr val="dk1"/>
              </a:solidFill>
            </a:endParaRPr>
          </a:p>
          <a:p>
            <a:pPr marL="457200" lvl="0" indent="457200" algn="l" rtl="0">
              <a:spcBef>
                <a:spcPts val="0"/>
              </a:spcBef>
              <a:spcAft>
                <a:spcPts val="0"/>
              </a:spcAft>
              <a:buNone/>
            </a:pPr>
            <a:r>
              <a:rPr lang="en" sz="1400">
                <a:solidFill>
                  <a:schemeClr val="dk1"/>
                </a:solidFill>
              </a:rPr>
              <a:t>The young ______</a:t>
            </a:r>
            <a:endParaRPr sz="1400">
              <a:solidFill>
                <a:schemeClr val="dk1"/>
              </a:solidFill>
            </a:endParaRPr>
          </a:p>
          <a:p>
            <a:pPr marL="457200" lvl="0" indent="457200" algn="l" rtl="0">
              <a:spcBef>
                <a:spcPts val="0"/>
              </a:spcBef>
              <a:spcAft>
                <a:spcPts val="0"/>
              </a:spcAft>
              <a:buNone/>
            </a:pPr>
            <a:r>
              <a:rPr lang="en" sz="1400">
                <a:solidFill>
                  <a:schemeClr val="dk1"/>
                </a:solidFill>
              </a:rPr>
              <a:t>The young boy ______</a:t>
            </a:r>
            <a:endParaRPr sz="1400">
              <a:solidFill>
                <a:schemeClr val="dk1"/>
              </a:solidFill>
            </a:endParaRPr>
          </a:p>
          <a:p>
            <a:pPr marL="457200" lvl="0" indent="457200" algn="l" rtl="0">
              <a:spcBef>
                <a:spcPts val="0"/>
              </a:spcBef>
              <a:spcAft>
                <a:spcPts val="0"/>
              </a:spcAft>
              <a:buNone/>
            </a:pPr>
            <a:r>
              <a:rPr lang="en" sz="1400">
                <a:solidFill>
                  <a:schemeClr val="dk1"/>
                </a:solidFill>
              </a:rPr>
              <a:t>The young boy ate  ______</a:t>
            </a:r>
            <a:endParaRPr sz="1400">
              <a:solidFill>
                <a:schemeClr val="dk1"/>
              </a:solidFill>
            </a:endParaRPr>
          </a:p>
          <a:p>
            <a:pPr marL="457200" lvl="0" indent="457200" algn="l" rtl="0">
              <a:spcBef>
                <a:spcPts val="0"/>
              </a:spcBef>
              <a:spcAft>
                <a:spcPts val="0"/>
              </a:spcAft>
              <a:buNone/>
            </a:pPr>
            <a:r>
              <a:rPr lang="en" sz="1400">
                <a:solidFill>
                  <a:schemeClr val="dk1"/>
                </a:solidFill>
              </a:rPr>
              <a:t>The young boy ate an ______</a:t>
            </a:r>
            <a:endParaRPr sz="1400">
              <a:solidFill>
                <a:schemeClr val="dk1"/>
              </a:solidFill>
            </a:endParaRPr>
          </a:p>
          <a:p>
            <a:pPr marL="0" lvl="0" indent="0" algn="l" rtl="0">
              <a:lnSpc>
                <a:spcPct val="115000"/>
              </a:lnSpc>
              <a:spcBef>
                <a:spcPts val="0"/>
              </a:spcBef>
              <a:spcAft>
                <a:spcPts val="0"/>
              </a:spcAft>
              <a:buNone/>
            </a:pPr>
            <a:endParaRPr sz="1700"/>
          </a:p>
          <a:p>
            <a:pPr marL="0" lvl="0" indent="0" algn="l" rtl="0">
              <a:lnSpc>
                <a:spcPct val="115000"/>
              </a:lnSpc>
              <a:spcBef>
                <a:spcPts val="0"/>
              </a:spcBef>
              <a:spcAft>
                <a:spcPts val="0"/>
              </a:spcAft>
              <a:buNone/>
            </a:pPr>
            <a:endParaRPr sz="1700"/>
          </a:p>
        </p:txBody>
      </p:sp>
      <p:sp>
        <p:nvSpPr>
          <p:cNvPr id="110" name="Google Shape;110;p20"/>
          <p:cNvSpPr txBox="1">
            <a:spLocks noGrp="1"/>
          </p:cNvSpPr>
          <p:nvPr>
            <p:ph type="body" idx="1"/>
          </p:nvPr>
        </p:nvSpPr>
        <p:spPr>
          <a:xfrm>
            <a:off x="4419000" y="717275"/>
            <a:ext cx="4039200" cy="3866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1700">
              <a:solidFill>
                <a:schemeClr val="dk1"/>
              </a:solidFill>
            </a:endParaRPr>
          </a:p>
          <a:p>
            <a:pPr marL="0" lvl="0" indent="0" algn="l" rtl="0">
              <a:spcBef>
                <a:spcPts val="0"/>
              </a:spcBef>
              <a:spcAft>
                <a:spcPts val="0"/>
              </a:spcAft>
              <a:buNone/>
            </a:pPr>
            <a:endParaRPr sz="1700">
              <a:solidFill>
                <a:schemeClr val="dk1"/>
              </a:solidFill>
            </a:endParaRPr>
          </a:p>
          <a:p>
            <a:pPr marL="0" lvl="0" indent="0" algn="ctr" rtl="0">
              <a:spcBef>
                <a:spcPts val="0"/>
              </a:spcBef>
              <a:spcAft>
                <a:spcPts val="0"/>
              </a:spcAft>
              <a:buNone/>
            </a:pPr>
            <a:r>
              <a:rPr lang="en" sz="1700">
                <a:solidFill>
                  <a:schemeClr val="dk1"/>
                </a:solidFill>
              </a:rPr>
              <a:t>The young ______ ate an apple.</a:t>
            </a:r>
            <a:endParaRPr sz="1700">
              <a:solidFill>
                <a:schemeClr val="dk1"/>
              </a:solidFill>
            </a:endParaRPr>
          </a:p>
          <a:p>
            <a:pPr marL="0" lvl="0" indent="0" algn="l" rtl="0">
              <a:lnSpc>
                <a:spcPct val="115000"/>
              </a:lnSpc>
              <a:spcBef>
                <a:spcPts val="0"/>
              </a:spcBef>
              <a:spcAft>
                <a:spcPts val="0"/>
              </a:spcAft>
              <a:buNone/>
            </a:pPr>
            <a:endParaRPr sz="1600"/>
          </a:p>
          <a:p>
            <a:pPr marL="457200" lvl="0" indent="457200" algn="l" rtl="0">
              <a:spcBef>
                <a:spcPts val="0"/>
              </a:spcBef>
              <a:spcAft>
                <a:spcPts val="0"/>
              </a:spcAft>
              <a:buNone/>
            </a:pPr>
            <a:r>
              <a:rPr lang="en" sz="1400" b="1">
                <a:solidFill>
                  <a:schemeClr val="dk1"/>
                </a:solidFill>
                <a:latin typeface="Roboto"/>
                <a:ea typeface="Roboto"/>
                <a:cs typeface="Roboto"/>
                <a:sym typeface="Roboto"/>
              </a:rPr>
              <a:t>Masked Language Modeling </a:t>
            </a:r>
            <a:endParaRPr sz="1400" b="1">
              <a:solidFill>
                <a:schemeClr val="dk1"/>
              </a:solidFill>
              <a:latin typeface="Roboto"/>
              <a:ea typeface="Roboto"/>
              <a:cs typeface="Roboto"/>
              <a:sym typeface="Roboto"/>
            </a:endParaRPr>
          </a:p>
          <a:p>
            <a:pPr marL="457200" lvl="0" indent="457200" algn="l" rtl="0">
              <a:spcBef>
                <a:spcPts val="0"/>
              </a:spcBef>
              <a:spcAft>
                <a:spcPts val="0"/>
              </a:spcAft>
              <a:buNone/>
            </a:pPr>
            <a:r>
              <a:rPr lang="en" sz="1400" b="1">
                <a:solidFill>
                  <a:schemeClr val="dk1"/>
                </a:solidFill>
                <a:latin typeface="Roboto"/>
                <a:ea typeface="Roboto"/>
                <a:cs typeface="Roboto"/>
                <a:sym typeface="Roboto"/>
              </a:rPr>
              <a:t>(encoder)</a:t>
            </a:r>
            <a:endParaRPr sz="1700">
              <a:solidFill>
                <a:schemeClr val="dk1"/>
              </a:solidFill>
            </a:endParaRPr>
          </a:p>
          <a:p>
            <a:pPr marL="0" lvl="0" indent="0" algn="ctr" rtl="0">
              <a:spcBef>
                <a:spcPts val="0"/>
              </a:spcBef>
              <a:spcAft>
                <a:spcPts val="0"/>
              </a:spcAft>
              <a:buNone/>
            </a:pPr>
            <a:endParaRPr sz="1700">
              <a:solidFill>
                <a:schemeClr val="dk1"/>
              </a:solidFill>
            </a:endParaRPr>
          </a:p>
          <a:p>
            <a:pPr marL="914400" lvl="0" indent="0" algn="l" rtl="0">
              <a:lnSpc>
                <a:spcPct val="150000"/>
              </a:lnSpc>
              <a:spcBef>
                <a:spcPts val="0"/>
              </a:spcBef>
              <a:spcAft>
                <a:spcPts val="0"/>
              </a:spcAft>
              <a:buNone/>
            </a:pPr>
            <a:r>
              <a:rPr lang="en" sz="1400">
                <a:solidFill>
                  <a:schemeClr val="dk1"/>
                </a:solidFill>
              </a:rPr>
              <a:t>______ young boy ate an apple.</a:t>
            </a:r>
            <a:endParaRPr sz="1400">
              <a:solidFill>
                <a:schemeClr val="dk1"/>
              </a:solidFill>
            </a:endParaRPr>
          </a:p>
          <a:p>
            <a:pPr marL="914400" lvl="0" indent="0" algn="l" rtl="0">
              <a:lnSpc>
                <a:spcPct val="150000"/>
              </a:lnSpc>
              <a:spcBef>
                <a:spcPts val="0"/>
              </a:spcBef>
              <a:spcAft>
                <a:spcPts val="0"/>
              </a:spcAft>
              <a:buNone/>
            </a:pPr>
            <a:r>
              <a:rPr lang="en" sz="1400">
                <a:solidFill>
                  <a:schemeClr val="dk1"/>
                </a:solidFill>
              </a:rPr>
              <a:t>The young boy ______ an apple.</a:t>
            </a:r>
            <a:endParaRPr sz="1400">
              <a:solidFill>
                <a:schemeClr val="dk1"/>
              </a:solidFill>
            </a:endParaRPr>
          </a:p>
          <a:p>
            <a:pPr marL="914400" lvl="0" indent="0" algn="l" rtl="0">
              <a:lnSpc>
                <a:spcPct val="150000"/>
              </a:lnSpc>
              <a:spcBef>
                <a:spcPts val="0"/>
              </a:spcBef>
              <a:spcAft>
                <a:spcPts val="0"/>
              </a:spcAft>
              <a:buNone/>
            </a:pPr>
            <a:r>
              <a:rPr lang="en" sz="1400">
                <a:solidFill>
                  <a:schemeClr val="dk1"/>
                </a:solidFill>
              </a:rPr>
              <a:t>The young boy ate ______ apple.</a:t>
            </a:r>
            <a:endParaRPr sz="1400">
              <a:solidFill>
                <a:schemeClr val="dk1"/>
              </a:solidFill>
            </a:endParaRPr>
          </a:p>
          <a:p>
            <a:pPr marL="914400" lvl="0" indent="0" algn="l" rtl="0">
              <a:lnSpc>
                <a:spcPct val="150000"/>
              </a:lnSpc>
              <a:spcBef>
                <a:spcPts val="0"/>
              </a:spcBef>
              <a:spcAft>
                <a:spcPts val="0"/>
              </a:spcAft>
              <a:buNone/>
            </a:pPr>
            <a:r>
              <a:rPr lang="en" sz="1400">
                <a:solidFill>
                  <a:schemeClr val="dk1"/>
                </a:solidFill>
              </a:rPr>
              <a:t>The ______ boy ate an apple.</a:t>
            </a:r>
            <a:endParaRPr sz="1400">
              <a:solidFill>
                <a:schemeClr val="dk1"/>
              </a:solidFill>
            </a:endParaRPr>
          </a:p>
          <a:p>
            <a:pPr marL="0" lvl="0" indent="0" algn="ctr" rtl="0">
              <a:spcBef>
                <a:spcPts val="0"/>
              </a:spcBef>
              <a:spcAft>
                <a:spcPts val="0"/>
              </a:spcAft>
              <a:buNone/>
            </a:pPr>
            <a:endParaRPr sz="1700">
              <a:solidFill>
                <a:schemeClr val="dk1"/>
              </a:solidFill>
            </a:endParaRPr>
          </a:p>
          <a:p>
            <a:pPr marL="0" lvl="0" indent="0" algn="ctr" rtl="0">
              <a:spcBef>
                <a:spcPts val="0"/>
              </a:spcBef>
              <a:spcAft>
                <a:spcPts val="0"/>
              </a:spcAft>
              <a:buNone/>
            </a:pPr>
            <a:endParaRPr sz="1700">
              <a:solidFill>
                <a:schemeClr val="dk1"/>
              </a:solidFill>
            </a:endParaRPr>
          </a:p>
          <a:p>
            <a:pPr marL="0" lvl="0" indent="0" algn="l" rtl="0">
              <a:lnSpc>
                <a:spcPct val="115000"/>
              </a:lnSpc>
              <a:spcBef>
                <a:spcPts val="0"/>
              </a:spcBef>
              <a:spcAft>
                <a:spcPts val="0"/>
              </a:spcAft>
              <a:buNone/>
            </a:pP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variants were picked based on their architecture and </a:t>
            </a:r>
            <a:endParaRPr/>
          </a:p>
          <a:p>
            <a:pPr marL="0" lvl="0" indent="0" algn="l" rtl="0">
              <a:spcBef>
                <a:spcPts val="0"/>
              </a:spcBef>
              <a:spcAft>
                <a:spcPts val="0"/>
              </a:spcAft>
              <a:buNone/>
            </a:pPr>
            <a:r>
              <a:rPr lang="en"/>
              <a:t>access to an open sourced implementation of the algorithm.</a:t>
            </a:r>
            <a:endParaRPr/>
          </a:p>
        </p:txBody>
      </p:sp>
      <p:graphicFrame>
        <p:nvGraphicFramePr>
          <p:cNvPr id="116" name="Google Shape;116;p21"/>
          <p:cNvGraphicFramePr/>
          <p:nvPr/>
        </p:nvGraphicFramePr>
        <p:xfrm>
          <a:off x="531775" y="1390650"/>
          <a:ext cx="3000000" cy="3000000"/>
        </p:xfrm>
        <a:graphic>
          <a:graphicData uri="http://schemas.openxmlformats.org/drawingml/2006/table">
            <a:tbl>
              <a:tblPr>
                <a:noFill/>
                <a:tableStyleId>{48591A76-CFF5-4B77-A7A6-EE86ED9AF097}</a:tableStyleId>
              </a:tblPr>
              <a:tblGrid>
                <a:gridCol w="1612600">
                  <a:extLst>
                    <a:ext uri="{9D8B030D-6E8A-4147-A177-3AD203B41FA5}">
                      <a16:colId xmlns:a16="http://schemas.microsoft.com/office/drawing/2014/main" val="20000"/>
                    </a:ext>
                  </a:extLst>
                </a:gridCol>
                <a:gridCol w="926625">
                  <a:extLst>
                    <a:ext uri="{9D8B030D-6E8A-4147-A177-3AD203B41FA5}">
                      <a16:colId xmlns:a16="http://schemas.microsoft.com/office/drawing/2014/main" val="20001"/>
                    </a:ext>
                  </a:extLst>
                </a:gridCol>
                <a:gridCol w="5842775">
                  <a:extLst>
                    <a:ext uri="{9D8B030D-6E8A-4147-A177-3AD203B41FA5}">
                      <a16:colId xmlns:a16="http://schemas.microsoft.com/office/drawing/2014/main" val="20002"/>
                    </a:ext>
                  </a:extLst>
                </a:gridCol>
              </a:tblGrid>
              <a:tr h="426700">
                <a:tc>
                  <a:txBody>
                    <a:bodyPr/>
                    <a:lstStyle/>
                    <a:p>
                      <a:pPr marL="0" lvl="0" indent="0" algn="l" rtl="0">
                        <a:spcBef>
                          <a:spcPts val="0"/>
                        </a:spcBef>
                        <a:spcAft>
                          <a:spcPts val="0"/>
                        </a:spcAft>
                        <a:buNone/>
                      </a:pPr>
                      <a:r>
                        <a:rPr lang="en" sz="1600">
                          <a:solidFill>
                            <a:srgbClr val="FFFFFF"/>
                          </a:solidFill>
                        </a:rPr>
                        <a:t>GPT 2</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causal</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Scaled decoder-only transformer</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453300">
                <a:tc>
                  <a:txBody>
                    <a:bodyPr/>
                    <a:lstStyle/>
                    <a:p>
                      <a:pPr marL="0" lvl="0" indent="0" algn="l" rtl="0">
                        <a:spcBef>
                          <a:spcPts val="0"/>
                        </a:spcBef>
                        <a:spcAft>
                          <a:spcPts val="0"/>
                        </a:spcAft>
                        <a:buNone/>
                      </a:pPr>
                      <a:r>
                        <a:rPr lang="en" sz="1600">
                          <a:solidFill>
                            <a:srgbClr val="FFFFFF"/>
                          </a:solidFill>
                        </a:rPr>
                        <a:t>Transformer XL</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causal</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Recurrence mechanism, positional relative encodings</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697175">
                <a:tc>
                  <a:txBody>
                    <a:bodyPr/>
                    <a:lstStyle/>
                    <a:p>
                      <a:pPr marL="0" lvl="0" indent="0" algn="l" rtl="0">
                        <a:spcBef>
                          <a:spcPts val="0"/>
                        </a:spcBef>
                        <a:spcAft>
                          <a:spcPts val="0"/>
                        </a:spcAft>
                        <a:buNone/>
                      </a:pPr>
                      <a:r>
                        <a:rPr lang="en" sz="1600">
                          <a:solidFill>
                            <a:srgbClr val="FFFFFF"/>
                          </a:solidFill>
                        </a:rPr>
                        <a:t>Reformer</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causal</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Reduced memory footprint. Compute reducing techniques (axial position encoding, local sensitive hashing attention)</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426700">
                <a:tc>
                  <a:txBody>
                    <a:bodyPr/>
                    <a:lstStyle/>
                    <a:p>
                      <a:pPr marL="0" lvl="0" indent="0" algn="l" rtl="0">
                        <a:spcBef>
                          <a:spcPts val="0"/>
                        </a:spcBef>
                        <a:spcAft>
                          <a:spcPts val="0"/>
                        </a:spcAft>
                        <a:buNone/>
                      </a:pPr>
                      <a:r>
                        <a:rPr lang="en" sz="1600">
                          <a:solidFill>
                            <a:srgbClr val="FFFFFF"/>
                          </a:solidFill>
                        </a:rPr>
                        <a:t>BERT</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Masked</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Random masking, next sentence prediction</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426700">
                <a:tc>
                  <a:txBody>
                    <a:bodyPr/>
                    <a:lstStyle/>
                    <a:p>
                      <a:pPr marL="0" lvl="0" indent="0" algn="l" rtl="0">
                        <a:spcBef>
                          <a:spcPts val="0"/>
                        </a:spcBef>
                        <a:spcAft>
                          <a:spcPts val="0"/>
                        </a:spcAft>
                        <a:buNone/>
                      </a:pPr>
                      <a:r>
                        <a:rPr lang="en" sz="1600">
                          <a:solidFill>
                            <a:srgbClr val="FFFFFF"/>
                          </a:solidFill>
                        </a:rPr>
                        <a:t>BERT</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causal*</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a causal implementation of this is now available</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r h="426700">
                <a:tc>
                  <a:txBody>
                    <a:bodyPr/>
                    <a:lstStyle/>
                    <a:p>
                      <a:pPr marL="0" lvl="0" indent="0" algn="l" rtl="0">
                        <a:spcBef>
                          <a:spcPts val="0"/>
                        </a:spcBef>
                        <a:spcAft>
                          <a:spcPts val="0"/>
                        </a:spcAft>
                        <a:buNone/>
                      </a:pPr>
                      <a:r>
                        <a:rPr lang="en" sz="1600">
                          <a:solidFill>
                            <a:srgbClr val="FFFFFF"/>
                          </a:solidFill>
                        </a:rPr>
                        <a:t>FlauBERT</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Masked</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Similar to BERT but no sentence ordering prediction</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5"/>
                  </a:ext>
                </a:extLst>
              </a:tr>
              <a:tr h="670525">
                <a:tc>
                  <a:txBody>
                    <a:bodyPr/>
                    <a:lstStyle/>
                    <a:p>
                      <a:pPr marL="0" lvl="0" indent="0" algn="l" rtl="0">
                        <a:spcBef>
                          <a:spcPts val="0"/>
                        </a:spcBef>
                        <a:spcAft>
                          <a:spcPts val="0"/>
                        </a:spcAft>
                        <a:buNone/>
                      </a:pPr>
                      <a:r>
                        <a:rPr lang="en" sz="1600">
                          <a:solidFill>
                            <a:srgbClr val="FFFFFF"/>
                          </a:solidFill>
                        </a:rPr>
                        <a:t>RoBERTa</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Masked</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rgbClr val="FFFFFF"/>
                          </a:solidFill>
                        </a:rPr>
                        <a:t>Dynamic masking, no next sentence prediction, uses BPE</a:t>
                      </a:r>
                      <a:endParaRPr sz="1600">
                        <a:solidFill>
                          <a:srgbClr val="FFFFFF"/>
                        </a:solidFill>
                      </a:endParaRPr>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 impact of architecture on scaling laws depends on </a:t>
            </a:r>
            <a:endParaRPr>
              <a:solidFill>
                <a:schemeClr val="dk1"/>
              </a:solidFill>
            </a:endParaRPr>
          </a:p>
          <a:p>
            <a:pPr marL="0" lvl="0" indent="0" algn="l" rtl="0">
              <a:spcBef>
                <a:spcPts val="0"/>
              </a:spcBef>
              <a:spcAft>
                <a:spcPts val="0"/>
              </a:spcAft>
              <a:buNone/>
            </a:pPr>
            <a:r>
              <a:rPr lang="en">
                <a:solidFill>
                  <a:schemeClr val="dk1"/>
                </a:solidFill>
              </a:rPr>
              <a:t>how significantly it impacts compute.</a:t>
            </a:r>
            <a:endParaRPr/>
          </a:p>
        </p:txBody>
      </p:sp>
      <p:sp>
        <p:nvSpPr>
          <p:cNvPr id="122" name="Google Shape;122;p22"/>
          <p:cNvSpPr txBox="1">
            <a:spLocks noGrp="1"/>
          </p:cNvSpPr>
          <p:nvPr>
            <p:ph type="body" idx="1"/>
          </p:nvPr>
        </p:nvSpPr>
        <p:spPr>
          <a:xfrm>
            <a:off x="381000" y="1390950"/>
            <a:ext cx="8202900" cy="3486000"/>
          </a:xfrm>
          <a:prstGeom prst="rect">
            <a:avLst/>
          </a:prstGeom>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Char char="●"/>
            </a:pPr>
            <a:r>
              <a:rPr lang="en" sz="1600"/>
              <a:t>Reformer’s scaling law (SL) should have a noticeably lower slope</a:t>
            </a:r>
            <a:endParaRPr sz="1600"/>
          </a:p>
          <a:p>
            <a:pPr marL="457200" lvl="0" indent="-330200" algn="l" rtl="0">
              <a:lnSpc>
                <a:spcPct val="115000"/>
              </a:lnSpc>
              <a:spcBef>
                <a:spcPts val="1600"/>
              </a:spcBef>
              <a:spcAft>
                <a:spcPts val="0"/>
              </a:spcAft>
              <a:buSzPts val="1600"/>
              <a:buChar char="●"/>
            </a:pPr>
            <a:r>
              <a:rPr lang="en" sz="1600"/>
              <a:t>We should see no change in BERT’s SL when trained using                          </a:t>
            </a:r>
            <a:endParaRPr sz="1600"/>
          </a:p>
          <a:p>
            <a:pPr marL="457200" lvl="0" indent="0" algn="l" rtl="0">
              <a:lnSpc>
                <a:spcPct val="115000"/>
              </a:lnSpc>
              <a:spcBef>
                <a:spcPts val="1600"/>
              </a:spcBef>
              <a:spcAft>
                <a:spcPts val="0"/>
              </a:spcAft>
              <a:buNone/>
            </a:pPr>
            <a:r>
              <a:rPr lang="en" sz="1600"/>
              <a:t>causal or masked language modeling.</a:t>
            </a:r>
            <a:endParaRPr sz="1600"/>
          </a:p>
          <a:p>
            <a:pPr marL="457200" lvl="0" indent="-342900" algn="l" rtl="0">
              <a:lnSpc>
                <a:spcPct val="115000"/>
              </a:lnSpc>
              <a:spcBef>
                <a:spcPts val="1600"/>
              </a:spcBef>
              <a:spcAft>
                <a:spcPts val="0"/>
              </a:spcAft>
              <a:buSzPts val="1800"/>
              <a:buChar char="●"/>
            </a:pPr>
            <a:r>
              <a:rPr lang="en" sz="1600">
                <a:solidFill>
                  <a:schemeClr val="dk1"/>
                </a:solidFill>
              </a:rPr>
              <a:t>BERT, FlauBERT, and RoBERTa should have SLs within a                        </a:t>
            </a:r>
            <a:endParaRPr sz="1600">
              <a:solidFill>
                <a:schemeClr val="dk1"/>
              </a:solidFill>
            </a:endParaRPr>
          </a:p>
          <a:p>
            <a:pPr marL="457200" lvl="0" indent="0" algn="l" rtl="0">
              <a:lnSpc>
                <a:spcPct val="115000"/>
              </a:lnSpc>
              <a:spcBef>
                <a:spcPts val="1600"/>
              </a:spcBef>
              <a:spcAft>
                <a:spcPts val="1600"/>
              </a:spcAft>
              <a:buNone/>
            </a:pPr>
            <a:r>
              <a:rPr lang="en" sz="1600">
                <a:solidFill>
                  <a:schemeClr val="dk1"/>
                </a:solidFill>
              </a:rPr>
              <a:t>reasonable margin of uncertainty between each other.</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26"/>
        <p:cNvGrpSpPr/>
        <p:nvPr/>
      </p:nvGrpSpPr>
      <p:grpSpPr>
        <a:xfrm>
          <a:off x="0" y="0"/>
          <a:ext cx="0" cy="0"/>
          <a:chOff x="0" y="0"/>
          <a:chExt cx="0" cy="0"/>
        </a:xfrm>
      </p:grpSpPr>
      <p:sp>
        <p:nvSpPr>
          <p:cNvPr id="127" name="Google Shape;127;p23"/>
          <p:cNvSpPr txBox="1">
            <a:spLocks noGrp="1"/>
          </p:cNvSpPr>
          <p:nvPr>
            <p:ph type="body" idx="1"/>
          </p:nvPr>
        </p:nvSpPr>
        <p:spPr>
          <a:xfrm>
            <a:off x="641075" y="987525"/>
            <a:ext cx="1557000" cy="3736800"/>
          </a:xfrm>
          <a:prstGeom prst="rect">
            <a:avLst/>
          </a:prstGeom>
        </p:spPr>
        <p:txBody>
          <a:bodyPr spcFirstLastPara="1" wrap="square" lIns="91425" tIns="91425" rIns="91425" bIns="91425" anchor="t" anchorCtr="0">
            <a:noAutofit/>
          </a:bodyPr>
          <a:lstStyle/>
          <a:p>
            <a:pPr marL="0" lvl="0" indent="0" algn="r" rtl="0">
              <a:lnSpc>
                <a:spcPct val="150000"/>
              </a:lnSpc>
              <a:spcBef>
                <a:spcPts val="0"/>
              </a:spcBef>
              <a:spcAft>
                <a:spcPts val="0"/>
              </a:spcAft>
              <a:buNone/>
            </a:pPr>
            <a:r>
              <a:rPr lang="en" sz="1600"/>
              <a:t>Problem</a:t>
            </a:r>
            <a:endParaRPr sz="1600">
              <a:solidFill>
                <a:schemeClr val="dk1"/>
              </a:solidFill>
            </a:endParaRPr>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b="1">
              <a:latin typeface="Roboto"/>
              <a:ea typeface="Roboto"/>
              <a:cs typeface="Roboto"/>
              <a:sym typeface="Roboto"/>
            </a:endParaRPr>
          </a:p>
          <a:p>
            <a:pPr marL="0" lvl="0" indent="0" algn="r" rtl="0">
              <a:lnSpc>
                <a:spcPct val="150000"/>
              </a:lnSpc>
              <a:spcBef>
                <a:spcPts val="0"/>
              </a:spcBef>
              <a:spcAft>
                <a:spcPts val="0"/>
              </a:spcAft>
              <a:buNone/>
            </a:pPr>
            <a:r>
              <a:rPr lang="en" sz="1600" b="1">
                <a:latin typeface="Roboto"/>
                <a:ea typeface="Roboto"/>
                <a:cs typeface="Roboto"/>
                <a:sym typeface="Roboto"/>
              </a:rPr>
              <a:t>Experiments</a:t>
            </a:r>
            <a:endParaRPr sz="1600" b="1">
              <a:latin typeface="Roboto"/>
              <a:ea typeface="Roboto"/>
              <a:cs typeface="Roboto"/>
              <a:sym typeface="Roboto"/>
            </a:endParaRPr>
          </a:p>
          <a:p>
            <a:pPr marL="0" lvl="0" indent="0" algn="l"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r>
              <a:rPr lang="en" sz="1600"/>
              <a:t>Future</a:t>
            </a:r>
            <a:endParaRPr sz="1600"/>
          </a:p>
        </p:txBody>
      </p:sp>
      <p:sp>
        <p:nvSpPr>
          <p:cNvPr id="128" name="Google Shape;128;p23"/>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129" name="Google Shape;129;p23"/>
          <p:cNvSpPr txBox="1">
            <a:spLocks noGrp="1"/>
          </p:cNvSpPr>
          <p:nvPr>
            <p:ph type="body" idx="1"/>
          </p:nvPr>
        </p:nvSpPr>
        <p:spPr>
          <a:xfrm>
            <a:off x="2478600" y="987525"/>
            <a:ext cx="6284400" cy="3736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chemeClr val="dk1"/>
                </a:solidFill>
              </a:rPr>
              <a:t>Existing Research</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Motivation</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Background</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Hypothesis</a:t>
            </a:r>
            <a:endParaRPr sz="1600">
              <a:solidFill>
                <a:schemeClr val="dk1"/>
              </a:solidFill>
            </a:endParaRPr>
          </a:p>
          <a:p>
            <a:pPr marL="0" lvl="0" indent="0" algn="l" rtl="0">
              <a:lnSpc>
                <a:spcPct val="150000"/>
              </a:lnSpc>
              <a:spcBef>
                <a:spcPts val="0"/>
              </a:spcBef>
              <a:spcAft>
                <a:spcPts val="0"/>
              </a:spcAft>
              <a:buNone/>
            </a:pPr>
            <a:r>
              <a:rPr lang="en" sz="1600" b="1">
                <a:solidFill>
                  <a:schemeClr val="dk1"/>
                </a:solidFill>
                <a:latin typeface="Roboto"/>
                <a:ea typeface="Roboto"/>
                <a:cs typeface="Roboto"/>
                <a:sym typeface="Roboto"/>
              </a:rPr>
              <a:t>Methodology</a:t>
            </a:r>
            <a:endParaRPr sz="1600" b="1">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600" b="1">
                <a:solidFill>
                  <a:schemeClr val="dk1"/>
                </a:solidFill>
                <a:latin typeface="Roboto"/>
                <a:ea typeface="Roboto"/>
                <a:cs typeface="Roboto"/>
                <a:sym typeface="Roboto"/>
              </a:rPr>
              <a:t>Preliminary Findings</a:t>
            </a:r>
            <a:endParaRPr sz="1600" b="1">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600" b="1">
                <a:solidFill>
                  <a:schemeClr val="dk1"/>
                </a:solidFill>
                <a:latin typeface="Roboto"/>
                <a:ea typeface="Roboto"/>
                <a:cs typeface="Roboto"/>
                <a:sym typeface="Roboto"/>
              </a:rPr>
              <a:t>Research Limitations</a:t>
            </a:r>
            <a:endParaRPr sz="1600" b="1">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600">
                <a:solidFill>
                  <a:schemeClr val="dk1"/>
                </a:solidFill>
              </a:rPr>
              <a:t>Why It Matters</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What’s Next</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Thank you</a:t>
            </a:r>
            <a:endParaRPr sz="17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33"/>
        <p:cNvGrpSpPr/>
        <p:nvPr/>
      </p:nvGrpSpPr>
      <p:grpSpPr>
        <a:xfrm>
          <a:off x="0" y="0"/>
          <a:ext cx="0" cy="0"/>
          <a:chOff x="0" y="0"/>
          <a:chExt cx="0" cy="0"/>
        </a:xfrm>
      </p:grpSpPr>
      <p:sp>
        <p:nvSpPr>
          <p:cNvPr id="134" name="Google Shape;134;p24"/>
          <p:cNvSpPr/>
          <p:nvPr/>
        </p:nvSpPr>
        <p:spPr>
          <a:xfrm>
            <a:off x="2051225" y="1373050"/>
            <a:ext cx="4806900" cy="2636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4"/>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Experiments were done using model size scans to </a:t>
            </a:r>
            <a:endParaRPr/>
          </a:p>
          <a:p>
            <a:pPr marL="0" lvl="0" indent="0" algn="l" rtl="0">
              <a:spcBef>
                <a:spcPts val="0"/>
              </a:spcBef>
              <a:spcAft>
                <a:spcPts val="0"/>
              </a:spcAft>
              <a:buNone/>
            </a:pPr>
            <a:r>
              <a:rPr lang="en"/>
              <a:t>calculate and compare L(C)* among the variants.</a:t>
            </a:r>
            <a:endParaRPr/>
          </a:p>
        </p:txBody>
      </p:sp>
      <p:sp>
        <p:nvSpPr>
          <p:cNvPr id="136" name="Google Shape;136;p24"/>
          <p:cNvSpPr txBox="1">
            <a:spLocks noGrp="1"/>
          </p:cNvSpPr>
          <p:nvPr>
            <p:ph type="body" idx="1"/>
          </p:nvPr>
        </p:nvSpPr>
        <p:spPr>
          <a:xfrm>
            <a:off x="2856888" y="4184275"/>
            <a:ext cx="2975400" cy="5991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000" b="1">
                <a:latin typeface="Roboto"/>
                <a:ea typeface="Roboto"/>
                <a:cs typeface="Roboto"/>
                <a:sym typeface="Roboto"/>
              </a:rPr>
              <a:t>Loss vs Estimated Compute</a:t>
            </a:r>
            <a:endParaRPr sz="1000" b="1">
              <a:latin typeface="Roboto"/>
              <a:ea typeface="Roboto"/>
              <a:cs typeface="Roboto"/>
              <a:sym typeface="Roboto"/>
            </a:endParaRPr>
          </a:p>
          <a:p>
            <a:pPr marL="0" lvl="0" indent="0" algn="ctr" rtl="0">
              <a:lnSpc>
                <a:spcPct val="115000"/>
              </a:lnSpc>
              <a:spcBef>
                <a:spcPts val="0"/>
              </a:spcBef>
              <a:spcAft>
                <a:spcPts val="0"/>
              </a:spcAft>
              <a:buNone/>
            </a:pPr>
            <a:r>
              <a:rPr lang="en" sz="900"/>
              <a:t>(dashed line - </a:t>
            </a:r>
            <a:r>
              <a:rPr lang="en" sz="900">
                <a:solidFill>
                  <a:schemeClr val="dk1"/>
                </a:solidFill>
              </a:rPr>
              <a:t>pareto frontier)</a:t>
            </a:r>
            <a:endParaRPr sz="900"/>
          </a:p>
        </p:txBody>
      </p:sp>
      <p:sp>
        <p:nvSpPr>
          <p:cNvPr id="137" name="Google Shape;137;p24"/>
          <p:cNvSpPr txBox="1">
            <a:spLocks noGrp="1"/>
          </p:cNvSpPr>
          <p:nvPr>
            <p:ph type="body" idx="1"/>
          </p:nvPr>
        </p:nvSpPr>
        <p:spPr>
          <a:xfrm>
            <a:off x="380997" y="4606300"/>
            <a:ext cx="6147600" cy="335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a:t>* L(C) is the Compute Efficient Frontier Fit. </a:t>
            </a:r>
            <a:endParaRPr sz="900"/>
          </a:p>
        </p:txBody>
      </p:sp>
      <p:sp>
        <p:nvSpPr>
          <p:cNvPr id="138" name="Google Shape;138;p24"/>
          <p:cNvSpPr txBox="1">
            <a:spLocks noGrp="1"/>
          </p:cNvSpPr>
          <p:nvPr>
            <p:ph type="body" idx="1"/>
          </p:nvPr>
        </p:nvSpPr>
        <p:spPr>
          <a:xfrm>
            <a:off x="3666950" y="37461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estimated compute</a:t>
            </a:r>
            <a:endParaRPr sz="700">
              <a:solidFill>
                <a:srgbClr val="666666"/>
              </a:solidFill>
            </a:endParaRPr>
          </a:p>
        </p:txBody>
      </p:sp>
      <p:sp>
        <p:nvSpPr>
          <p:cNvPr id="139" name="Google Shape;139;p24"/>
          <p:cNvSpPr txBox="1">
            <a:spLocks noGrp="1"/>
          </p:cNvSpPr>
          <p:nvPr>
            <p:ph type="body" idx="1"/>
          </p:nvPr>
        </p:nvSpPr>
        <p:spPr>
          <a:xfrm rot="-5400000">
            <a:off x="1909088" y="24453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test loss</a:t>
            </a:r>
            <a:endParaRPr sz="700">
              <a:solidFill>
                <a:srgbClr val="666666"/>
              </a:solidFill>
            </a:endParaRPr>
          </a:p>
        </p:txBody>
      </p:sp>
      <p:sp>
        <p:nvSpPr>
          <p:cNvPr id="140" name="Google Shape;140;p24"/>
          <p:cNvSpPr txBox="1">
            <a:spLocks noGrp="1"/>
          </p:cNvSpPr>
          <p:nvPr>
            <p:ph type="body" idx="1"/>
          </p:nvPr>
        </p:nvSpPr>
        <p:spPr>
          <a:xfrm rot="-5400000">
            <a:off x="5170825" y="2445450"/>
            <a:ext cx="16119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model size (model parameter #)</a:t>
            </a:r>
            <a:endParaRPr sz="700">
              <a:solidFill>
                <a:srgbClr val="666666"/>
              </a:solidFill>
            </a:endParaRPr>
          </a:p>
        </p:txBody>
      </p:sp>
      <p:pic>
        <p:nvPicPr>
          <p:cNvPr id="141" name="Google Shape;141;p24"/>
          <p:cNvPicPr preferRelativeResize="0"/>
          <p:nvPr/>
        </p:nvPicPr>
        <p:blipFill rotWithShape="1">
          <a:blip r:embed="rId3">
            <a:alphaModFix/>
          </a:blip>
          <a:srcRect t="1526" r="655"/>
          <a:stretch/>
        </p:blipFill>
        <p:spPr>
          <a:xfrm>
            <a:off x="2676288" y="1505900"/>
            <a:ext cx="3190624" cy="2240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45"/>
        <p:cNvGrpSpPr/>
        <p:nvPr/>
      </p:nvGrpSpPr>
      <p:grpSpPr>
        <a:xfrm>
          <a:off x="0" y="0"/>
          <a:ext cx="0" cy="0"/>
          <a:chOff x="0" y="0"/>
          <a:chExt cx="0" cy="0"/>
        </a:xfrm>
      </p:grpSpPr>
      <p:sp>
        <p:nvSpPr>
          <p:cNvPr id="146" name="Google Shape;146;p25"/>
          <p:cNvSpPr/>
          <p:nvPr/>
        </p:nvSpPr>
        <p:spPr>
          <a:xfrm>
            <a:off x="150" y="1754038"/>
            <a:ext cx="9144000" cy="2636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5"/>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same architecture using a different method of training</a:t>
            </a:r>
            <a:endParaRPr/>
          </a:p>
          <a:p>
            <a:pPr marL="0" lvl="0" indent="0" algn="l" rtl="0">
              <a:spcBef>
                <a:spcPts val="0"/>
              </a:spcBef>
              <a:spcAft>
                <a:spcPts val="0"/>
              </a:spcAft>
              <a:buNone/>
            </a:pPr>
            <a:r>
              <a:rPr lang="en"/>
              <a:t>can produce different L(C)s.</a:t>
            </a:r>
            <a:endParaRPr/>
          </a:p>
        </p:txBody>
      </p:sp>
      <p:sp>
        <p:nvSpPr>
          <p:cNvPr id="148" name="Google Shape;148;p25"/>
          <p:cNvSpPr txBox="1">
            <a:spLocks noGrp="1"/>
          </p:cNvSpPr>
          <p:nvPr>
            <p:ph type="body" idx="1"/>
          </p:nvPr>
        </p:nvSpPr>
        <p:spPr>
          <a:xfrm>
            <a:off x="1495225" y="4501325"/>
            <a:ext cx="1874700" cy="2925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400" b="1">
                <a:latin typeface="Roboto"/>
                <a:ea typeface="Roboto"/>
                <a:cs typeface="Roboto"/>
                <a:sym typeface="Roboto"/>
              </a:rPr>
              <a:t>L(C) = (2.521 * C )</a:t>
            </a:r>
            <a:endParaRPr sz="1400" b="1">
              <a:latin typeface="Roboto"/>
              <a:ea typeface="Roboto"/>
              <a:cs typeface="Roboto"/>
              <a:sym typeface="Roboto"/>
            </a:endParaRPr>
          </a:p>
        </p:txBody>
      </p:sp>
      <p:sp>
        <p:nvSpPr>
          <p:cNvPr id="149" name="Google Shape;149;p25"/>
          <p:cNvSpPr txBox="1"/>
          <p:nvPr/>
        </p:nvSpPr>
        <p:spPr>
          <a:xfrm>
            <a:off x="2877050" y="4468750"/>
            <a:ext cx="734700" cy="292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700" b="1">
                <a:solidFill>
                  <a:schemeClr val="dk1"/>
                </a:solidFill>
                <a:latin typeface="Roboto"/>
                <a:ea typeface="Roboto"/>
                <a:cs typeface="Roboto"/>
                <a:sym typeface="Roboto"/>
              </a:rPr>
              <a:t>-0.062</a:t>
            </a:r>
            <a:endParaRPr sz="700"/>
          </a:p>
        </p:txBody>
      </p:sp>
      <p:sp>
        <p:nvSpPr>
          <p:cNvPr id="150" name="Google Shape;150;p25"/>
          <p:cNvSpPr txBox="1"/>
          <p:nvPr/>
        </p:nvSpPr>
        <p:spPr>
          <a:xfrm>
            <a:off x="7260275" y="4468750"/>
            <a:ext cx="734700" cy="292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700" b="1">
                <a:solidFill>
                  <a:schemeClr val="dk1"/>
                </a:solidFill>
                <a:latin typeface="Roboto"/>
                <a:ea typeface="Roboto"/>
                <a:cs typeface="Roboto"/>
                <a:sym typeface="Roboto"/>
              </a:rPr>
              <a:t>-0.03</a:t>
            </a:r>
            <a:endParaRPr sz="700" b="1">
              <a:solidFill>
                <a:schemeClr val="dk1"/>
              </a:solidFill>
              <a:latin typeface="Roboto"/>
              <a:ea typeface="Roboto"/>
              <a:cs typeface="Roboto"/>
              <a:sym typeface="Roboto"/>
            </a:endParaRPr>
          </a:p>
        </p:txBody>
      </p:sp>
      <p:sp>
        <p:nvSpPr>
          <p:cNvPr id="151" name="Google Shape;151;p25"/>
          <p:cNvSpPr txBox="1">
            <a:spLocks noGrp="1"/>
          </p:cNvSpPr>
          <p:nvPr>
            <p:ph type="body" idx="1"/>
          </p:nvPr>
        </p:nvSpPr>
        <p:spPr>
          <a:xfrm rot="-5400000">
            <a:off x="48738" y="2852075"/>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test loss</a:t>
            </a:r>
            <a:endParaRPr sz="700">
              <a:solidFill>
                <a:srgbClr val="666666"/>
              </a:solidFill>
            </a:endParaRPr>
          </a:p>
        </p:txBody>
      </p:sp>
      <p:sp>
        <p:nvSpPr>
          <p:cNvPr id="152" name="Google Shape;152;p25"/>
          <p:cNvSpPr txBox="1">
            <a:spLocks noGrp="1"/>
          </p:cNvSpPr>
          <p:nvPr>
            <p:ph type="body" idx="1"/>
          </p:nvPr>
        </p:nvSpPr>
        <p:spPr>
          <a:xfrm rot="-5400000">
            <a:off x="4329913" y="28263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test loss</a:t>
            </a:r>
            <a:endParaRPr sz="700">
              <a:solidFill>
                <a:srgbClr val="666666"/>
              </a:solidFill>
            </a:endParaRPr>
          </a:p>
        </p:txBody>
      </p:sp>
      <p:sp>
        <p:nvSpPr>
          <p:cNvPr id="153" name="Google Shape;153;p25"/>
          <p:cNvSpPr txBox="1">
            <a:spLocks noGrp="1"/>
          </p:cNvSpPr>
          <p:nvPr>
            <p:ph type="body" idx="1"/>
          </p:nvPr>
        </p:nvSpPr>
        <p:spPr>
          <a:xfrm rot="-5400000">
            <a:off x="3330675" y="2826300"/>
            <a:ext cx="16119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model size (model parameter #)</a:t>
            </a:r>
            <a:endParaRPr sz="700">
              <a:solidFill>
                <a:srgbClr val="666666"/>
              </a:solidFill>
            </a:endParaRPr>
          </a:p>
        </p:txBody>
      </p:sp>
      <p:sp>
        <p:nvSpPr>
          <p:cNvPr id="154" name="Google Shape;154;p25"/>
          <p:cNvSpPr txBox="1">
            <a:spLocks noGrp="1"/>
          </p:cNvSpPr>
          <p:nvPr>
            <p:ph type="body" idx="1"/>
          </p:nvPr>
        </p:nvSpPr>
        <p:spPr>
          <a:xfrm rot="-5400000">
            <a:off x="7561200" y="2826300"/>
            <a:ext cx="16119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model size (model parameter #)</a:t>
            </a:r>
            <a:endParaRPr sz="700">
              <a:solidFill>
                <a:srgbClr val="666666"/>
              </a:solidFill>
            </a:endParaRPr>
          </a:p>
        </p:txBody>
      </p:sp>
      <p:sp>
        <p:nvSpPr>
          <p:cNvPr id="155" name="Google Shape;155;p25"/>
          <p:cNvSpPr txBox="1">
            <a:spLocks noGrp="1"/>
          </p:cNvSpPr>
          <p:nvPr>
            <p:ph type="body" idx="1"/>
          </p:nvPr>
        </p:nvSpPr>
        <p:spPr>
          <a:xfrm>
            <a:off x="6245200" y="40527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estimated compute</a:t>
            </a:r>
            <a:endParaRPr sz="700">
              <a:solidFill>
                <a:srgbClr val="666666"/>
              </a:solidFill>
            </a:endParaRPr>
          </a:p>
        </p:txBody>
      </p:sp>
      <p:sp>
        <p:nvSpPr>
          <p:cNvPr id="156" name="Google Shape;156;p25"/>
          <p:cNvSpPr txBox="1">
            <a:spLocks noGrp="1"/>
          </p:cNvSpPr>
          <p:nvPr>
            <p:ph type="body" idx="1"/>
          </p:nvPr>
        </p:nvSpPr>
        <p:spPr>
          <a:xfrm>
            <a:off x="1869463" y="40836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estimated compute</a:t>
            </a:r>
            <a:endParaRPr sz="700">
              <a:solidFill>
                <a:srgbClr val="666666"/>
              </a:solidFill>
            </a:endParaRPr>
          </a:p>
        </p:txBody>
      </p:sp>
      <p:pic>
        <p:nvPicPr>
          <p:cNvPr id="157" name="Google Shape;157;p25"/>
          <p:cNvPicPr preferRelativeResize="0"/>
          <p:nvPr/>
        </p:nvPicPr>
        <p:blipFill rotWithShape="1">
          <a:blip r:embed="rId3">
            <a:alphaModFix/>
          </a:blip>
          <a:srcRect t="1526" r="655"/>
          <a:stretch/>
        </p:blipFill>
        <p:spPr>
          <a:xfrm>
            <a:off x="863550" y="1843400"/>
            <a:ext cx="3190624" cy="2240200"/>
          </a:xfrm>
          <a:prstGeom prst="rect">
            <a:avLst/>
          </a:prstGeom>
          <a:noFill/>
          <a:ln>
            <a:noFill/>
          </a:ln>
        </p:spPr>
      </p:pic>
      <p:pic>
        <p:nvPicPr>
          <p:cNvPr id="158" name="Google Shape;158;p25"/>
          <p:cNvPicPr preferRelativeResize="0"/>
          <p:nvPr/>
        </p:nvPicPr>
        <p:blipFill rotWithShape="1">
          <a:blip r:embed="rId4">
            <a:alphaModFix/>
          </a:blip>
          <a:srcRect t="2543" r="507"/>
          <a:stretch/>
        </p:blipFill>
        <p:spPr>
          <a:xfrm>
            <a:off x="5019600" y="1868650"/>
            <a:ext cx="3221100" cy="2219742"/>
          </a:xfrm>
          <a:prstGeom prst="rect">
            <a:avLst/>
          </a:prstGeom>
          <a:noFill/>
          <a:ln>
            <a:noFill/>
          </a:ln>
        </p:spPr>
      </p:pic>
      <p:sp>
        <p:nvSpPr>
          <p:cNvPr id="159" name="Google Shape;159;p25"/>
          <p:cNvSpPr txBox="1">
            <a:spLocks noGrp="1"/>
          </p:cNvSpPr>
          <p:nvPr>
            <p:ph type="body" idx="1"/>
          </p:nvPr>
        </p:nvSpPr>
        <p:spPr>
          <a:xfrm>
            <a:off x="5912500" y="4504825"/>
            <a:ext cx="1874700" cy="2925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400" b="1">
                <a:latin typeface="Roboto"/>
                <a:ea typeface="Roboto"/>
                <a:cs typeface="Roboto"/>
                <a:sym typeface="Roboto"/>
              </a:rPr>
              <a:t>L(C) = (4.008 * C )</a:t>
            </a:r>
            <a:endParaRPr sz="1400" b="1">
              <a:solidFill>
                <a:srgbClr val="1A0F4B"/>
              </a:solidFill>
              <a:latin typeface="Roboto"/>
              <a:ea typeface="Roboto"/>
              <a:cs typeface="Roboto"/>
              <a:sym typeface="Roboto"/>
            </a:endParaRPr>
          </a:p>
          <a:p>
            <a:pPr marL="0" lvl="0" indent="0" algn="ctr" rtl="0">
              <a:lnSpc>
                <a:spcPct val="115000"/>
              </a:lnSpc>
              <a:spcBef>
                <a:spcPts val="0"/>
              </a:spcBef>
              <a:spcAft>
                <a:spcPts val="0"/>
              </a:spcAft>
              <a:buNone/>
            </a:pPr>
            <a:endParaRPr sz="1400" b="1">
              <a:latin typeface="Roboto"/>
              <a:ea typeface="Roboto"/>
              <a:cs typeface="Roboto"/>
              <a:sym typeface="Roboto"/>
            </a:endParaRPr>
          </a:p>
        </p:txBody>
      </p:sp>
      <p:sp>
        <p:nvSpPr>
          <p:cNvPr id="160" name="Google Shape;160;p25"/>
          <p:cNvSpPr txBox="1">
            <a:spLocks noGrp="1"/>
          </p:cNvSpPr>
          <p:nvPr>
            <p:ph type="body" idx="1"/>
          </p:nvPr>
        </p:nvSpPr>
        <p:spPr>
          <a:xfrm>
            <a:off x="1776900" y="1274475"/>
            <a:ext cx="1394400" cy="2925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400" b="1">
                <a:latin typeface="Roboto"/>
                <a:ea typeface="Roboto"/>
                <a:cs typeface="Roboto"/>
                <a:sym typeface="Roboto"/>
              </a:rPr>
              <a:t>BERT (CLM)</a:t>
            </a:r>
            <a:endParaRPr sz="1400" b="1">
              <a:solidFill>
                <a:srgbClr val="1A0F4B"/>
              </a:solidFill>
              <a:latin typeface="Roboto"/>
              <a:ea typeface="Roboto"/>
              <a:cs typeface="Roboto"/>
              <a:sym typeface="Roboto"/>
            </a:endParaRPr>
          </a:p>
          <a:p>
            <a:pPr marL="0" lvl="0" indent="0" algn="ctr" rtl="0">
              <a:lnSpc>
                <a:spcPct val="115000"/>
              </a:lnSpc>
              <a:spcBef>
                <a:spcPts val="0"/>
              </a:spcBef>
              <a:spcAft>
                <a:spcPts val="0"/>
              </a:spcAft>
              <a:buNone/>
            </a:pPr>
            <a:endParaRPr sz="1400" b="1">
              <a:latin typeface="Roboto"/>
              <a:ea typeface="Roboto"/>
              <a:cs typeface="Roboto"/>
              <a:sym typeface="Roboto"/>
            </a:endParaRPr>
          </a:p>
        </p:txBody>
      </p:sp>
      <p:sp>
        <p:nvSpPr>
          <p:cNvPr id="161" name="Google Shape;161;p25"/>
          <p:cNvSpPr txBox="1">
            <a:spLocks noGrp="1"/>
          </p:cNvSpPr>
          <p:nvPr>
            <p:ph type="body" idx="1"/>
          </p:nvPr>
        </p:nvSpPr>
        <p:spPr>
          <a:xfrm>
            <a:off x="6152650" y="1274475"/>
            <a:ext cx="1394400" cy="2925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400" b="1">
                <a:latin typeface="Roboto"/>
                <a:ea typeface="Roboto"/>
                <a:cs typeface="Roboto"/>
                <a:sym typeface="Roboto"/>
              </a:rPr>
              <a:t>BERT (MLM)</a:t>
            </a:r>
            <a:endParaRPr sz="1400" b="1">
              <a:solidFill>
                <a:srgbClr val="1A0F4B"/>
              </a:solidFill>
              <a:latin typeface="Roboto"/>
              <a:ea typeface="Roboto"/>
              <a:cs typeface="Roboto"/>
              <a:sym typeface="Roboto"/>
            </a:endParaRPr>
          </a:p>
          <a:p>
            <a:pPr marL="0" lvl="0" indent="0" algn="ctr" rtl="0">
              <a:lnSpc>
                <a:spcPct val="115000"/>
              </a:lnSpc>
              <a:spcBef>
                <a:spcPts val="0"/>
              </a:spcBef>
              <a:spcAft>
                <a:spcPts val="0"/>
              </a:spcAft>
              <a:buNone/>
            </a:pPr>
            <a:endParaRPr sz="1400" b="1">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65"/>
        <p:cNvGrpSpPr/>
        <p:nvPr/>
      </p:nvGrpSpPr>
      <p:grpSpPr>
        <a:xfrm>
          <a:off x="0" y="0"/>
          <a:ext cx="0" cy="0"/>
          <a:chOff x="0" y="0"/>
          <a:chExt cx="0" cy="0"/>
        </a:xfrm>
      </p:grpSpPr>
      <p:sp>
        <p:nvSpPr>
          <p:cNvPr id="166" name="Google Shape;166;p26"/>
          <p:cNvSpPr/>
          <p:nvPr/>
        </p:nvSpPr>
        <p:spPr>
          <a:xfrm>
            <a:off x="830650" y="1677850"/>
            <a:ext cx="3851700" cy="2751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txBox="1">
            <a:spLocks noGrp="1"/>
          </p:cNvSpPr>
          <p:nvPr>
            <p:ph type="title"/>
          </p:nvPr>
        </p:nvSpPr>
        <p:spPr>
          <a:xfrm>
            <a:off x="381000" y="381000"/>
            <a:ext cx="85245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Reformer formed a </a:t>
            </a:r>
            <a:r>
              <a:rPr lang="en">
                <a:solidFill>
                  <a:schemeClr val="dk1"/>
                </a:solidFill>
              </a:rPr>
              <a:t>tiered pareto frontier, meaning that some of the larger models don’t perform any better than the smallest within the same tier but used more compute.</a:t>
            </a:r>
            <a:endParaRPr/>
          </a:p>
        </p:txBody>
      </p:sp>
      <p:sp>
        <p:nvSpPr>
          <p:cNvPr id="168" name="Google Shape;168;p26"/>
          <p:cNvSpPr txBox="1"/>
          <p:nvPr/>
        </p:nvSpPr>
        <p:spPr>
          <a:xfrm>
            <a:off x="7661350" y="1404700"/>
            <a:ext cx="7347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600">
                <a:solidFill>
                  <a:schemeClr val="dk1"/>
                </a:solidFill>
                <a:latin typeface="Roboto Light"/>
                <a:ea typeface="Roboto Light"/>
                <a:cs typeface="Roboto Light"/>
                <a:sym typeface="Roboto Light"/>
              </a:rPr>
              <a:t>-0.0734</a:t>
            </a:r>
            <a:endParaRPr sz="600">
              <a:solidFill>
                <a:schemeClr val="dk1"/>
              </a:solidFill>
              <a:latin typeface="Roboto Light"/>
              <a:ea typeface="Roboto Light"/>
              <a:cs typeface="Roboto Light"/>
              <a:sym typeface="Roboto Light"/>
            </a:endParaRPr>
          </a:p>
        </p:txBody>
      </p:sp>
      <p:sp>
        <p:nvSpPr>
          <p:cNvPr id="169" name="Google Shape;169;p26"/>
          <p:cNvSpPr txBox="1">
            <a:spLocks noGrp="1"/>
          </p:cNvSpPr>
          <p:nvPr>
            <p:ph type="body" idx="1"/>
          </p:nvPr>
        </p:nvSpPr>
        <p:spPr>
          <a:xfrm>
            <a:off x="5148575" y="1429800"/>
            <a:ext cx="3787800" cy="3082800"/>
          </a:xfrm>
          <a:prstGeom prst="rect">
            <a:avLst/>
          </a:prstGeom>
        </p:spPr>
        <p:txBody>
          <a:bodyPr spcFirstLastPara="1" wrap="square" lIns="91425" tIns="91425" rIns="91425" bIns="91425" anchor="t" anchorCtr="0">
            <a:noAutofit/>
          </a:bodyPr>
          <a:lstStyle/>
          <a:p>
            <a:pPr marL="457200" lvl="0" indent="-317500" algn="l" rtl="0">
              <a:lnSpc>
                <a:spcPct val="200000"/>
              </a:lnSpc>
              <a:spcBef>
                <a:spcPts val="0"/>
              </a:spcBef>
              <a:spcAft>
                <a:spcPts val="0"/>
              </a:spcAft>
              <a:buSzPts val="1400"/>
              <a:buChar char="●"/>
            </a:pPr>
            <a:r>
              <a:rPr lang="en" sz="1400"/>
              <a:t>Reformer’s L(C) = (0.149 * C)</a:t>
            </a:r>
            <a:endParaRPr sz="1400"/>
          </a:p>
          <a:p>
            <a:pPr marL="457200" lvl="0" indent="-317500" algn="l" rtl="0">
              <a:lnSpc>
                <a:spcPct val="200000"/>
              </a:lnSpc>
              <a:spcBef>
                <a:spcPts val="0"/>
              </a:spcBef>
              <a:spcAft>
                <a:spcPts val="0"/>
              </a:spcAft>
              <a:buSzPts val="1400"/>
              <a:buChar char="●"/>
            </a:pPr>
            <a:r>
              <a:rPr lang="en" sz="1400"/>
              <a:t>Would want to observe if this pattern persists on other transformers whose architectures directly affect compute </a:t>
            </a:r>
            <a:endParaRPr sz="1400"/>
          </a:p>
          <a:p>
            <a:pPr marL="457200" lvl="0" indent="-317500" algn="l" rtl="0">
              <a:lnSpc>
                <a:spcPct val="200000"/>
              </a:lnSpc>
              <a:spcBef>
                <a:spcPts val="0"/>
              </a:spcBef>
              <a:spcAft>
                <a:spcPts val="0"/>
              </a:spcAft>
              <a:buSzPts val="1400"/>
              <a:buChar char="●"/>
            </a:pPr>
            <a:r>
              <a:rPr lang="en" sz="1400"/>
              <a:t>Potential Causes:</a:t>
            </a:r>
            <a:endParaRPr sz="1400"/>
          </a:p>
          <a:p>
            <a:pPr marL="914400" lvl="1" indent="-317500" algn="l" rtl="0">
              <a:lnSpc>
                <a:spcPct val="200000"/>
              </a:lnSpc>
              <a:spcBef>
                <a:spcPts val="0"/>
              </a:spcBef>
              <a:spcAft>
                <a:spcPts val="0"/>
              </a:spcAft>
              <a:buSzPts val="1400"/>
              <a:buChar char="○"/>
            </a:pPr>
            <a:r>
              <a:rPr lang="en" sz="1400"/>
              <a:t>Limited hyperparameter tuning</a:t>
            </a:r>
            <a:endParaRPr sz="1400"/>
          </a:p>
          <a:p>
            <a:pPr marL="914400" lvl="1" indent="-317500" algn="l" rtl="0">
              <a:lnSpc>
                <a:spcPct val="200000"/>
              </a:lnSpc>
              <a:spcBef>
                <a:spcPts val="0"/>
              </a:spcBef>
              <a:spcAft>
                <a:spcPts val="0"/>
              </a:spcAft>
              <a:buSzPts val="1400"/>
              <a:buChar char="○"/>
            </a:pPr>
            <a:r>
              <a:rPr lang="en" sz="1400"/>
              <a:t>Architectural structure </a:t>
            </a:r>
            <a:endParaRPr sz="1400"/>
          </a:p>
        </p:txBody>
      </p:sp>
      <p:sp>
        <p:nvSpPr>
          <p:cNvPr id="170" name="Google Shape;170;p26"/>
          <p:cNvSpPr txBox="1">
            <a:spLocks noGrp="1"/>
          </p:cNvSpPr>
          <p:nvPr>
            <p:ph type="body" idx="1"/>
          </p:nvPr>
        </p:nvSpPr>
        <p:spPr>
          <a:xfrm rot="-5400000">
            <a:off x="363038" y="28696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test loss</a:t>
            </a:r>
            <a:endParaRPr sz="700">
              <a:solidFill>
                <a:srgbClr val="666666"/>
              </a:solidFill>
            </a:endParaRPr>
          </a:p>
        </p:txBody>
      </p:sp>
      <p:sp>
        <p:nvSpPr>
          <p:cNvPr id="171" name="Google Shape;171;p26"/>
          <p:cNvSpPr txBox="1">
            <a:spLocks noGrp="1"/>
          </p:cNvSpPr>
          <p:nvPr>
            <p:ph type="body" idx="1"/>
          </p:nvPr>
        </p:nvSpPr>
        <p:spPr>
          <a:xfrm>
            <a:off x="2282800" y="41289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estimated compute</a:t>
            </a:r>
            <a:endParaRPr sz="700">
              <a:solidFill>
                <a:srgbClr val="666666"/>
              </a:solidFill>
            </a:endParaRPr>
          </a:p>
        </p:txBody>
      </p:sp>
      <p:sp>
        <p:nvSpPr>
          <p:cNvPr id="172" name="Google Shape;172;p26"/>
          <p:cNvSpPr txBox="1">
            <a:spLocks noGrp="1"/>
          </p:cNvSpPr>
          <p:nvPr>
            <p:ph type="body" idx="1"/>
          </p:nvPr>
        </p:nvSpPr>
        <p:spPr>
          <a:xfrm rot="-5400000">
            <a:off x="3675000" y="2826300"/>
            <a:ext cx="16119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666666"/>
                </a:solidFill>
                <a:latin typeface="Roboto"/>
                <a:ea typeface="Roboto"/>
                <a:cs typeface="Roboto"/>
                <a:sym typeface="Roboto"/>
              </a:rPr>
              <a:t>model size (model parameter #)</a:t>
            </a:r>
            <a:endParaRPr sz="700">
              <a:solidFill>
                <a:srgbClr val="666666"/>
              </a:solidFill>
            </a:endParaRPr>
          </a:p>
        </p:txBody>
      </p:sp>
      <p:pic>
        <p:nvPicPr>
          <p:cNvPr id="173" name="Google Shape;173;p26"/>
          <p:cNvPicPr preferRelativeResize="0"/>
          <p:nvPr/>
        </p:nvPicPr>
        <p:blipFill rotWithShape="1">
          <a:blip r:embed="rId3">
            <a:alphaModFix/>
          </a:blip>
          <a:srcRect r="675"/>
          <a:stretch/>
        </p:blipFill>
        <p:spPr>
          <a:xfrm>
            <a:off x="1076700" y="1911725"/>
            <a:ext cx="3277799" cy="22933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77"/>
        <p:cNvGrpSpPr/>
        <p:nvPr/>
      </p:nvGrpSpPr>
      <p:grpSpPr>
        <a:xfrm>
          <a:off x="0" y="0"/>
          <a:ext cx="0" cy="0"/>
          <a:chOff x="0" y="0"/>
          <a:chExt cx="0" cy="0"/>
        </a:xfrm>
      </p:grpSpPr>
      <p:sp>
        <p:nvSpPr>
          <p:cNvPr id="178" name="Google Shape;178;p27"/>
          <p:cNvSpPr txBox="1">
            <a:spLocks noGrp="1"/>
          </p:cNvSpPr>
          <p:nvPr>
            <p:ph type="body" idx="1"/>
          </p:nvPr>
        </p:nvSpPr>
        <p:spPr>
          <a:xfrm>
            <a:off x="381000" y="1201350"/>
            <a:ext cx="8298600" cy="3523200"/>
          </a:xfrm>
          <a:prstGeom prst="rect">
            <a:avLst/>
          </a:prstGeom>
        </p:spPr>
        <p:txBody>
          <a:bodyPr spcFirstLastPara="1" wrap="square" lIns="91425" tIns="91425" rIns="91425" bIns="91425" anchor="t" anchorCtr="0">
            <a:noAutofit/>
          </a:bodyPr>
          <a:lstStyle/>
          <a:p>
            <a:pPr marL="457200" lvl="0" indent="-336550" algn="l" rtl="0">
              <a:lnSpc>
                <a:spcPct val="200000"/>
              </a:lnSpc>
              <a:spcBef>
                <a:spcPts val="0"/>
              </a:spcBef>
              <a:spcAft>
                <a:spcPts val="0"/>
              </a:spcAft>
              <a:buSzPts val="1700"/>
              <a:buChar char="●"/>
            </a:pPr>
            <a:r>
              <a:rPr lang="en" sz="1700">
                <a:solidFill>
                  <a:schemeClr val="dk1"/>
                </a:solidFill>
              </a:rPr>
              <a:t>Limited hyperparameter sweeps</a:t>
            </a:r>
            <a:endParaRPr sz="1700">
              <a:solidFill>
                <a:schemeClr val="dk1"/>
              </a:solidFill>
            </a:endParaRPr>
          </a:p>
          <a:p>
            <a:pPr marL="457200" lvl="0" indent="-336550" algn="l" rtl="0">
              <a:lnSpc>
                <a:spcPct val="200000"/>
              </a:lnSpc>
              <a:spcBef>
                <a:spcPts val="0"/>
              </a:spcBef>
              <a:spcAft>
                <a:spcPts val="0"/>
              </a:spcAft>
              <a:buClr>
                <a:schemeClr val="dk1"/>
              </a:buClr>
              <a:buSzPts val="1700"/>
              <a:buChar char="●"/>
            </a:pPr>
            <a:r>
              <a:rPr lang="en" sz="1700">
                <a:solidFill>
                  <a:schemeClr val="dk1"/>
                </a:solidFill>
              </a:rPr>
              <a:t>Scaling laws were calculated without irreducible loss</a:t>
            </a:r>
            <a:endParaRPr sz="1700">
              <a:solidFill>
                <a:schemeClr val="dk1"/>
              </a:solidFill>
            </a:endParaRPr>
          </a:p>
          <a:p>
            <a:pPr marL="457200" lvl="0" indent="-336550" algn="l" rtl="0">
              <a:lnSpc>
                <a:spcPct val="200000"/>
              </a:lnSpc>
              <a:spcBef>
                <a:spcPts val="0"/>
              </a:spcBef>
              <a:spcAft>
                <a:spcPts val="0"/>
              </a:spcAft>
              <a:buSzPts val="1700"/>
              <a:buChar char="●"/>
            </a:pPr>
            <a:r>
              <a:rPr lang="en" sz="1700"/>
              <a:t>Models weren’t tested with component isolation </a:t>
            </a:r>
            <a:endParaRPr sz="1700"/>
          </a:p>
          <a:p>
            <a:pPr marL="457200" lvl="0" indent="0" algn="l" rtl="0">
              <a:lnSpc>
                <a:spcPct val="200000"/>
              </a:lnSpc>
              <a:spcBef>
                <a:spcPts val="0"/>
              </a:spcBef>
              <a:spcAft>
                <a:spcPts val="0"/>
              </a:spcAft>
              <a:buNone/>
            </a:pPr>
            <a:r>
              <a:rPr lang="en" sz="1700"/>
              <a:t>(i.e. hard to isolate which specific parts of training impacted loss)</a:t>
            </a:r>
            <a:endParaRPr sz="1700"/>
          </a:p>
          <a:p>
            <a:pPr marL="457200" lvl="0" indent="-336550" algn="l" rtl="0">
              <a:lnSpc>
                <a:spcPct val="200000"/>
              </a:lnSpc>
              <a:spcBef>
                <a:spcPts val="0"/>
              </a:spcBef>
              <a:spcAft>
                <a:spcPts val="0"/>
              </a:spcAft>
              <a:buSzPts val="1700"/>
              <a:buChar char="●"/>
            </a:pPr>
            <a:r>
              <a:rPr lang="en" sz="1700"/>
              <a:t>Too much variability among the models</a:t>
            </a:r>
            <a:endParaRPr sz="1700"/>
          </a:p>
          <a:p>
            <a:pPr marL="457200" lvl="0" indent="0" algn="l" rtl="0">
              <a:lnSpc>
                <a:spcPct val="200000"/>
              </a:lnSpc>
              <a:spcBef>
                <a:spcPts val="0"/>
              </a:spcBef>
              <a:spcAft>
                <a:spcPts val="0"/>
              </a:spcAft>
              <a:buNone/>
            </a:pPr>
            <a:r>
              <a:rPr lang="en" sz="1700">
                <a:solidFill>
                  <a:schemeClr val="dk1"/>
                </a:solidFill>
              </a:rPr>
              <a:t>(i.e. the architectures can’t be directly compared to one another)</a:t>
            </a:r>
            <a:endParaRPr sz="1700"/>
          </a:p>
        </p:txBody>
      </p:sp>
      <p:sp>
        <p:nvSpPr>
          <p:cNvPr id="179" name="Google Shape;179;p27"/>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Experiment Limitations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83"/>
        <p:cNvGrpSpPr/>
        <p:nvPr/>
      </p:nvGrpSpPr>
      <p:grpSpPr>
        <a:xfrm>
          <a:off x="0" y="0"/>
          <a:ext cx="0" cy="0"/>
          <a:chOff x="0" y="0"/>
          <a:chExt cx="0" cy="0"/>
        </a:xfrm>
      </p:grpSpPr>
      <p:sp>
        <p:nvSpPr>
          <p:cNvPr id="184" name="Google Shape;184;p28"/>
          <p:cNvSpPr txBox="1">
            <a:spLocks noGrp="1"/>
          </p:cNvSpPr>
          <p:nvPr>
            <p:ph type="body" idx="1"/>
          </p:nvPr>
        </p:nvSpPr>
        <p:spPr>
          <a:xfrm>
            <a:off x="982200" y="987525"/>
            <a:ext cx="1215900" cy="3736800"/>
          </a:xfrm>
          <a:prstGeom prst="rect">
            <a:avLst/>
          </a:prstGeom>
        </p:spPr>
        <p:txBody>
          <a:bodyPr spcFirstLastPara="1" wrap="square" lIns="91425" tIns="91425" rIns="91425" bIns="91425" anchor="t" anchorCtr="0">
            <a:noAutofit/>
          </a:bodyPr>
          <a:lstStyle/>
          <a:p>
            <a:pPr marL="0" lvl="0" indent="0" algn="r" rtl="0">
              <a:lnSpc>
                <a:spcPct val="150000"/>
              </a:lnSpc>
              <a:spcBef>
                <a:spcPts val="0"/>
              </a:spcBef>
              <a:spcAft>
                <a:spcPts val="0"/>
              </a:spcAft>
              <a:buNone/>
            </a:pPr>
            <a:r>
              <a:rPr lang="en" sz="1600"/>
              <a:t>Problem</a:t>
            </a:r>
            <a:endParaRPr sz="1600">
              <a:solidFill>
                <a:schemeClr val="dk1"/>
              </a:solidFill>
            </a:endParaRPr>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endParaRPr sz="1600"/>
          </a:p>
          <a:p>
            <a:pPr marL="0" lvl="0" indent="0" algn="r" rtl="0">
              <a:lnSpc>
                <a:spcPct val="150000"/>
              </a:lnSpc>
              <a:spcBef>
                <a:spcPts val="0"/>
              </a:spcBef>
              <a:spcAft>
                <a:spcPts val="0"/>
              </a:spcAft>
              <a:buNone/>
            </a:pPr>
            <a:r>
              <a:rPr lang="en" sz="1600"/>
              <a:t>Findings</a:t>
            </a:r>
            <a:endParaRPr sz="1600"/>
          </a:p>
          <a:p>
            <a:pPr marL="0" lvl="0" indent="0" algn="l" rtl="0">
              <a:lnSpc>
                <a:spcPct val="150000"/>
              </a:lnSpc>
              <a:spcBef>
                <a:spcPts val="0"/>
              </a:spcBef>
              <a:spcAft>
                <a:spcPts val="0"/>
              </a:spcAft>
              <a:buNone/>
            </a:pPr>
            <a:endParaRPr sz="1600"/>
          </a:p>
          <a:p>
            <a:pPr marL="0" lvl="0" indent="0" algn="l" rtl="0">
              <a:lnSpc>
                <a:spcPct val="150000"/>
              </a:lnSpc>
              <a:spcBef>
                <a:spcPts val="0"/>
              </a:spcBef>
              <a:spcAft>
                <a:spcPts val="0"/>
              </a:spcAft>
              <a:buNone/>
            </a:pPr>
            <a:endParaRPr sz="1600"/>
          </a:p>
          <a:p>
            <a:pPr marL="0" lvl="0" indent="0" algn="r" rtl="0">
              <a:lnSpc>
                <a:spcPct val="150000"/>
              </a:lnSpc>
              <a:spcBef>
                <a:spcPts val="0"/>
              </a:spcBef>
              <a:spcAft>
                <a:spcPts val="0"/>
              </a:spcAft>
              <a:buNone/>
            </a:pPr>
            <a:r>
              <a:rPr lang="en" sz="1600" b="1">
                <a:latin typeface="Roboto"/>
                <a:ea typeface="Roboto"/>
                <a:cs typeface="Roboto"/>
                <a:sym typeface="Roboto"/>
              </a:rPr>
              <a:t>Future</a:t>
            </a:r>
            <a:endParaRPr sz="1600" b="1">
              <a:latin typeface="Roboto"/>
              <a:ea typeface="Roboto"/>
              <a:cs typeface="Roboto"/>
              <a:sym typeface="Roboto"/>
            </a:endParaRPr>
          </a:p>
        </p:txBody>
      </p:sp>
      <p:sp>
        <p:nvSpPr>
          <p:cNvPr id="185" name="Google Shape;185;p28"/>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Agenda</a:t>
            </a:r>
            <a:endParaRPr/>
          </a:p>
        </p:txBody>
      </p:sp>
      <p:sp>
        <p:nvSpPr>
          <p:cNvPr id="186" name="Google Shape;186;p28"/>
          <p:cNvSpPr txBox="1">
            <a:spLocks noGrp="1"/>
          </p:cNvSpPr>
          <p:nvPr>
            <p:ph type="body" idx="1"/>
          </p:nvPr>
        </p:nvSpPr>
        <p:spPr>
          <a:xfrm>
            <a:off x="2478600" y="987525"/>
            <a:ext cx="6284400" cy="3736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a:solidFill>
                  <a:schemeClr val="dk1"/>
                </a:solidFill>
              </a:rPr>
              <a:t>Existing Research</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Motivation</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Background</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Hypothesis</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Methodology</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Preliminary Findings</a:t>
            </a:r>
            <a:endParaRPr sz="1600">
              <a:solidFill>
                <a:schemeClr val="dk1"/>
              </a:solidFill>
            </a:endParaRPr>
          </a:p>
          <a:p>
            <a:pPr marL="0" lvl="0" indent="0" algn="l" rtl="0">
              <a:lnSpc>
                <a:spcPct val="150000"/>
              </a:lnSpc>
              <a:spcBef>
                <a:spcPts val="0"/>
              </a:spcBef>
              <a:spcAft>
                <a:spcPts val="0"/>
              </a:spcAft>
              <a:buNone/>
            </a:pPr>
            <a:r>
              <a:rPr lang="en" sz="1600">
                <a:solidFill>
                  <a:schemeClr val="dk1"/>
                </a:solidFill>
              </a:rPr>
              <a:t>Research Limitations</a:t>
            </a:r>
            <a:endParaRPr sz="1600">
              <a:solidFill>
                <a:schemeClr val="dk1"/>
              </a:solidFill>
            </a:endParaRPr>
          </a:p>
          <a:p>
            <a:pPr marL="0" lvl="0" indent="0" algn="l" rtl="0">
              <a:lnSpc>
                <a:spcPct val="150000"/>
              </a:lnSpc>
              <a:spcBef>
                <a:spcPts val="0"/>
              </a:spcBef>
              <a:spcAft>
                <a:spcPts val="0"/>
              </a:spcAft>
              <a:buNone/>
            </a:pPr>
            <a:r>
              <a:rPr lang="en" sz="1600" b="1">
                <a:solidFill>
                  <a:schemeClr val="dk1"/>
                </a:solidFill>
                <a:latin typeface="Roboto"/>
                <a:ea typeface="Roboto"/>
                <a:cs typeface="Roboto"/>
                <a:sym typeface="Roboto"/>
              </a:rPr>
              <a:t>Why It Matters</a:t>
            </a:r>
            <a:endParaRPr sz="1600" b="1">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600" b="1">
                <a:solidFill>
                  <a:schemeClr val="dk1"/>
                </a:solidFill>
                <a:latin typeface="Roboto"/>
                <a:ea typeface="Roboto"/>
                <a:cs typeface="Roboto"/>
                <a:sym typeface="Roboto"/>
              </a:rPr>
              <a:t>What’s Next</a:t>
            </a:r>
            <a:endParaRPr sz="1600" b="1">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 sz="1600" b="1">
                <a:solidFill>
                  <a:schemeClr val="dk1"/>
                </a:solidFill>
                <a:latin typeface="Roboto"/>
                <a:ea typeface="Roboto"/>
                <a:cs typeface="Roboto"/>
                <a:sym typeface="Roboto"/>
              </a:rPr>
              <a:t>Thank you</a:t>
            </a:r>
            <a:endParaRPr sz="1700" b="1">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90"/>
        <p:cNvGrpSpPr/>
        <p:nvPr/>
      </p:nvGrpSpPr>
      <p:grpSpPr>
        <a:xfrm>
          <a:off x="0" y="0"/>
          <a:ext cx="0" cy="0"/>
          <a:chOff x="0" y="0"/>
          <a:chExt cx="0" cy="0"/>
        </a:xfrm>
      </p:grpSpPr>
      <p:sp>
        <p:nvSpPr>
          <p:cNvPr id="191" name="Google Shape;191;p29"/>
          <p:cNvSpPr/>
          <p:nvPr/>
        </p:nvSpPr>
        <p:spPr>
          <a:xfrm>
            <a:off x="2420850" y="1392850"/>
            <a:ext cx="4302300" cy="2916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2" name="Google Shape;192;p29"/>
          <p:cNvPicPr preferRelativeResize="0"/>
          <p:nvPr/>
        </p:nvPicPr>
        <p:blipFill>
          <a:blip r:embed="rId3">
            <a:alphaModFix/>
          </a:blip>
          <a:stretch>
            <a:fillRect/>
          </a:stretch>
        </p:blipFill>
        <p:spPr>
          <a:xfrm>
            <a:off x="2440554" y="1487199"/>
            <a:ext cx="4262893" cy="2668450"/>
          </a:xfrm>
          <a:prstGeom prst="rect">
            <a:avLst/>
          </a:prstGeom>
          <a:noFill/>
          <a:ln>
            <a:noFill/>
          </a:ln>
        </p:spPr>
      </p:pic>
      <p:sp>
        <p:nvSpPr>
          <p:cNvPr id="193" name="Google Shape;193;p29"/>
          <p:cNvSpPr txBox="1">
            <a:spLocks noGrp="1"/>
          </p:cNvSpPr>
          <p:nvPr>
            <p:ph type="title"/>
          </p:nvPr>
        </p:nvSpPr>
        <p:spPr>
          <a:xfrm>
            <a:off x="381000" y="381000"/>
            <a:ext cx="856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architecture that scales best is the most cost effective model to use.</a:t>
            </a:r>
            <a:endParaRPr/>
          </a:p>
        </p:txBody>
      </p:sp>
      <p:sp>
        <p:nvSpPr>
          <p:cNvPr id="194" name="Google Shape;194;p29"/>
          <p:cNvSpPr txBox="1">
            <a:spLocks noGrp="1"/>
          </p:cNvSpPr>
          <p:nvPr>
            <p:ph type="body" idx="1"/>
          </p:nvPr>
        </p:nvSpPr>
        <p:spPr>
          <a:xfrm rot="-5400000">
            <a:off x="2256850" y="2576450"/>
            <a:ext cx="9018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000000"/>
                </a:solidFill>
                <a:latin typeface="Roboto"/>
                <a:ea typeface="Roboto"/>
                <a:cs typeface="Roboto"/>
                <a:sym typeface="Roboto"/>
              </a:rPr>
              <a:t>loss</a:t>
            </a:r>
            <a:endParaRPr sz="700" b="1">
              <a:solidFill>
                <a:srgbClr val="000000"/>
              </a:solidFill>
              <a:latin typeface="Roboto"/>
              <a:ea typeface="Roboto"/>
              <a:cs typeface="Roboto"/>
              <a:sym typeface="Roboto"/>
            </a:endParaRPr>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p:txBody>
      </p:sp>
      <p:sp>
        <p:nvSpPr>
          <p:cNvPr id="195" name="Google Shape;195;p29"/>
          <p:cNvSpPr txBox="1">
            <a:spLocks noGrp="1"/>
          </p:cNvSpPr>
          <p:nvPr>
            <p:ph type="body" idx="1"/>
          </p:nvPr>
        </p:nvSpPr>
        <p:spPr>
          <a:xfrm>
            <a:off x="3967350" y="38084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000000"/>
                </a:solidFill>
                <a:latin typeface="Roboto"/>
                <a:ea typeface="Roboto"/>
                <a:cs typeface="Roboto"/>
                <a:sym typeface="Roboto"/>
              </a:rPr>
              <a:t>estimated compute</a:t>
            </a:r>
            <a:endParaRPr sz="7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199"/>
        <p:cNvGrpSpPr/>
        <p:nvPr/>
      </p:nvGrpSpPr>
      <p:grpSpPr>
        <a:xfrm>
          <a:off x="0" y="0"/>
          <a:ext cx="0" cy="0"/>
          <a:chOff x="0" y="0"/>
          <a:chExt cx="0" cy="0"/>
        </a:xfrm>
      </p:grpSpPr>
      <p:sp>
        <p:nvSpPr>
          <p:cNvPr id="200" name="Google Shape;200;p30"/>
          <p:cNvSpPr/>
          <p:nvPr/>
        </p:nvSpPr>
        <p:spPr>
          <a:xfrm>
            <a:off x="2420850" y="1392850"/>
            <a:ext cx="4302300" cy="2916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1" name="Google Shape;201;p30"/>
          <p:cNvPicPr preferRelativeResize="0"/>
          <p:nvPr/>
        </p:nvPicPr>
        <p:blipFill>
          <a:blip r:embed="rId3">
            <a:alphaModFix/>
          </a:blip>
          <a:stretch>
            <a:fillRect/>
          </a:stretch>
        </p:blipFill>
        <p:spPr>
          <a:xfrm>
            <a:off x="2985250" y="1666575"/>
            <a:ext cx="3123961" cy="2213049"/>
          </a:xfrm>
          <a:prstGeom prst="rect">
            <a:avLst/>
          </a:prstGeom>
          <a:noFill/>
          <a:ln>
            <a:noFill/>
          </a:ln>
        </p:spPr>
      </p:pic>
      <p:sp>
        <p:nvSpPr>
          <p:cNvPr id="202" name="Google Shape;202;p30"/>
          <p:cNvSpPr txBox="1">
            <a:spLocks noGrp="1"/>
          </p:cNvSpPr>
          <p:nvPr>
            <p:ph type="title"/>
          </p:nvPr>
        </p:nvSpPr>
        <p:spPr>
          <a:xfrm>
            <a:off x="381000" y="381000"/>
            <a:ext cx="85998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 architecture that scales best is the most cost effective model to use.</a:t>
            </a:r>
            <a:endParaRPr>
              <a:solidFill>
                <a:schemeClr val="dk1"/>
              </a:solidFill>
            </a:endParaRPr>
          </a:p>
          <a:p>
            <a:pPr marL="0" lvl="0" indent="0" algn="l" rtl="0">
              <a:spcBef>
                <a:spcPts val="0"/>
              </a:spcBef>
              <a:spcAft>
                <a:spcPts val="0"/>
              </a:spcAft>
              <a:buNone/>
            </a:pPr>
            <a:endParaRPr>
              <a:solidFill>
                <a:schemeClr val="dk1"/>
              </a:solidFill>
            </a:endParaRPr>
          </a:p>
        </p:txBody>
      </p:sp>
      <p:sp>
        <p:nvSpPr>
          <p:cNvPr id="203" name="Google Shape;203;p30"/>
          <p:cNvSpPr txBox="1">
            <a:spLocks noGrp="1"/>
          </p:cNvSpPr>
          <p:nvPr>
            <p:ph type="body" idx="1"/>
          </p:nvPr>
        </p:nvSpPr>
        <p:spPr>
          <a:xfrm rot="-5400000">
            <a:off x="2256850" y="2576450"/>
            <a:ext cx="9018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000000"/>
                </a:solidFill>
                <a:latin typeface="Roboto"/>
                <a:ea typeface="Roboto"/>
                <a:cs typeface="Roboto"/>
                <a:sym typeface="Roboto"/>
              </a:rPr>
              <a:t>loss</a:t>
            </a:r>
            <a:endParaRPr sz="700" b="1">
              <a:solidFill>
                <a:srgbClr val="000000"/>
              </a:solidFill>
              <a:latin typeface="Roboto"/>
              <a:ea typeface="Roboto"/>
              <a:cs typeface="Roboto"/>
              <a:sym typeface="Roboto"/>
            </a:endParaRPr>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p:txBody>
      </p:sp>
      <p:sp>
        <p:nvSpPr>
          <p:cNvPr id="204" name="Google Shape;204;p30"/>
          <p:cNvSpPr txBox="1">
            <a:spLocks noGrp="1"/>
          </p:cNvSpPr>
          <p:nvPr>
            <p:ph type="body" idx="1"/>
          </p:nvPr>
        </p:nvSpPr>
        <p:spPr>
          <a:xfrm>
            <a:off x="3967350" y="38084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000000"/>
                </a:solidFill>
                <a:latin typeface="Roboto"/>
                <a:ea typeface="Roboto"/>
                <a:cs typeface="Roboto"/>
                <a:sym typeface="Roboto"/>
              </a:rPr>
              <a:t>estimated compute</a:t>
            </a:r>
            <a:endParaRPr sz="700"/>
          </a:p>
        </p:txBody>
      </p:sp>
      <p:sp>
        <p:nvSpPr>
          <p:cNvPr id="205" name="Google Shape;205;p30"/>
          <p:cNvSpPr txBox="1">
            <a:spLocks noGrp="1"/>
          </p:cNvSpPr>
          <p:nvPr>
            <p:ph type="body" idx="1"/>
          </p:nvPr>
        </p:nvSpPr>
        <p:spPr>
          <a:xfrm>
            <a:off x="6026325" y="2279250"/>
            <a:ext cx="1209300" cy="2925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500" b="1">
                <a:solidFill>
                  <a:srgbClr val="000000"/>
                </a:solidFill>
                <a:latin typeface="Roboto"/>
                <a:ea typeface="Roboto"/>
                <a:cs typeface="Roboto"/>
                <a:sym typeface="Roboto"/>
              </a:rPr>
              <a:t>gap widens as </a:t>
            </a:r>
            <a:endParaRPr sz="500" b="1">
              <a:solidFill>
                <a:srgbClr val="000000"/>
              </a:solidFill>
              <a:latin typeface="Roboto"/>
              <a:ea typeface="Roboto"/>
              <a:cs typeface="Roboto"/>
              <a:sym typeface="Roboto"/>
            </a:endParaRPr>
          </a:p>
          <a:p>
            <a:pPr marL="0" lvl="0" indent="0" algn="l" rtl="0">
              <a:lnSpc>
                <a:spcPct val="115000"/>
              </a:lnSpc>
              <a:spcBef>
                <a:spcPts val="0"/>
              </a:spcBef>
              <a:spcAft>
                <a:spcPts val="0"/>
              </a:spcAft>
              <a:buNone/>
            </a:pPr>
            <a:r>
              <a:rPr lang="en" sz="500" b="1">
                <a:solidFill>
                  <a:srgbClr val="000000"/>
                </a:solidFill>
                <a:latin typeface="Roboto"/>
                <a:ea typeface="Roboto"/>
                <a:cs typeface="Roboto"/>
                <a:sym typeface="Roboto"/>
              </a:rPr>
              <a:t>compute grows</a:t>
            </a:r>
            <a:endParaRPr sz="500" b="1">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209"/>
        <p:cNvGrpSpPr/>
        <p:nvPr/>
      </p:nvGrpSpPr>
      <p:grpSpPr>
        <a:xfrm>
          <a:off x="0" y="0"/>
          <a:ext cx="0" cy="0"/>
          <a:chOff x="0" y="0"/>
          <a:chExt cx="0" cy="0"/>
        </a:xfrm>
      </p:grpSpPr>
      <p:sp>
        <p:nvSpPr>
          <p:cNvPr id="210" name="Google Shape;210;p31"/>
          <p:cNvSpPr/>
          <p:nvPr/>
        </p:nvSpPr>
        <p:spPr>
          <a:xfrm>
            <a:off x="2420850" y="1392850"/>
            <a:ext cx="4302300" cy="2916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1" name="Google Shape;211;p31"/>
          <p:cNvPicPr preferRelativeResize="0"/>
          <p:nvPr/>
        </p:nvPicPr>
        <p:blipFill>
          <a:blip r:embed="rId3">
            <a:alphaModFix/>
          </a:blip>
          <a:stretch>
            <a:fillRect/>
          </a:stretch>
        </p:blipFill>
        <p:spPr>
          <a:xfrm>
            <a:off x="2912625" y="1575900"/>
            <a:ext cx="3247506" cy="2339199"/>
          </a:xfrm>
          <a:prstGeom prst="rect">
            <a:avLst/>
          </a:prstGeom>
          <a:noFill/>
          <a:ln>
            <a:noFill/>
          </a:ln>
        </p:spPr>
      </p:pic>
      <p:sp>
        <p:nvSpPr>
          <p:cNvPr id="212" name="Google Shape;212;p31"/>
          <p:cNvSpPr txBox="1">
            <a:spLocks noGrp="1"/>
          </p:cNvSpPr>
          <p:nvPr>
            <p:ph type="title"/>
          </p:nvPr>
        </p:nvSpPr>
        <p:spPr>
          <a:xfrm>
            <a:off x="381000" y="381000"/>
            <a:ext cx="85176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The architecture that scales best is the most cost effective model to use.</a:t>
            </a:r>
            <a:endParaRPr>
              <a:solidFill>
                <a:schemeClr val="dk1"/>
              </a:solidFill>
            </a:endParaRPr>
          </a:p>
          <a:p>
            <a:pPr marL="0" lvl="0" indent="0" algn="l" rtl="0">
              <a:spcBef>
                <a:spcPts val="0"/>
              </a:spcBef>
              <a:spcAft>
                <a:spcPts val="0"/>
              </a:spcAft>
              <a:buNone/>
            </a:pPr>
            <a:endParaRPr/>
          </a:p>
        </p:txBody>
      </p:sp>
      <p:sp>
        <p:nvSpPr>
          <p:cNvPr id="213" name="Google Shape;213;p31"/>
          <p:cNvSpPr txBox="1">
            <a:spLocks noGrp="1"/>
          </p:cNvSpPr>
          <p:nvPr>
            <p:ph type="body" idx="1"/>
          </p:nvPr>
        </p:nvSpPr>
        <p:spPr>
          <a:xfrm rot="-5400000">
            <a:off x="2256850" y="2576450"/>
            <a:ext cx="9018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000000"/>
                </a:solidFill>
                <a:latin typeface="Roboto"/>
                <a:ea typeface="Roboto"/>
                <a:cs typeface="Roboto"/>
                <a:sym typeface="Roboto"/>
              </a:rPr>
              <a:t>loss</a:t>
            </a:r>
            <a:endParaRPr sz="700" b="1">
              <a:solidFill>
                <a:srgbClr val="000000"/>
              </a:solidFill>
              <a:latin typeface="Roboto"/>
              <a:ea typeface="Roboto"/>
              <a:cs typeface="Roboto"/>
              <a:sym typeface="Roboto"/>
            </a:endParaRPr>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a:p>
            <a:pPr marL="0" lvl="0" indent="0" algn="ctr" rtl="0">
              <a:lnSpc>
                <a:spcPct val="115000"/>
              </a:lnSpc>
              <a:spcBef>
                <a:spcPts val="0"/>
              </a:spcBef>
              <a:spcAft>
                <a:spcPts val="0"/>
              </a:spcAft>
              <a:buNone/>
            </a:pPr>
            <a:endParaRPr sz="1700"/>
          </a:p>
        </p:txBody>
      </p:sp>
      <p:sp>
        <p:nvSpPr>
          <p:cNvPr id="214" name="Google Shape;214;p31"/>
          <p:cNvSpPr txBox="1">
            <a:spLocks noGrp="1"/>
          </p:cNvSpPr>
          <p:nvPr>
            <p:ph type="body" idx="1"/>
          </p:nvPr>
        </p:nvSpPr>
        <p:spPr>
          <a:xfrm>
            <a:off x="3967350" y="3808400"/>
            <a:ext cx="1209300" cy="252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700" b="1">
                <a:solidFill>
                  <a:srgbClr val="000000"/>
                </a:solidFill>
                <a:latin typeface="Roboto"/>
                <a:ea typeface="Roboto"/>
                <a:cs typeface="Roboto"/>
                <a:sym typeface="Roboto"/>
              </a:rPr>
              <a:t>estimated compute</a:t>
            </a:r>
            <a:endParaRPr sz="700"/>
          </a:p>
        </p:txBody>
      </p:sp>
      <p:sp>
        <p:nvSpPr>
          <p:cNvPr id="215" name="Google Shape;215;p31"/>
          <p:cNvSpPr txBox="1">
            <a:spLocks noGrp="1"/>
          </p:cNvSpPr>
          <p:nvPr>
            <p:ph type="body" idx="1"/>
          </p:nvPr>
        </p:nvSpPr>
        <p:spPr>
          <a:xfrm>
            <a:off x="6026325" y="2279250"/>
            <a:ext cx="1209300" cy="2925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500" b="1">
                <a:solidFill>
                  <a:srgbClr val="000000"/>
                </a:solidFill>
                <a:latin typeface="Roboto"/>
                <a:ea typeface="Roboto"/>
                <a:cs typeface="Roboto"/>
                <a:sym typeface="Roboto"/>
              </a:rPr>
              <a:t>gap widens as </a:t>
            </a:r>
            <a:endParaRPr sz="500" b="1">
              <a:solidFill>
                <a:srgbClr val="000000"/>
              </a:solidFill>
              <a:latin typeface="Roboto"/>
              <a:ea typeface="Roboto"/>
              <a:cs typeface="Roboto"/>
              <a:sym typeface="Roboto"/>
            </a:endParaRPr>
          </a:p>
          <a:p>
            <a:pPr marL="0" lvl="0" indent="0" algn="l" rtl="0">
              <a:lnSpc>
                <a:spcPct val="115000"/>
              </a:lnSpc>
              <a:spcBef>
                <a:spcPts val="0"/>
              </a:spcBef>
              <a:spcAft>
                <a:spcPts val="0"/>
              </a:spcAft>
              <a:buNone/>
            </a:pPr>
            <a:r>
              <a:rPr lang="en" sz="500" b="1">
                <a:solidFill>
                  <a:srgbClr val="000000"/>
                </a:solidFill>
                <a:latin typeface="Roboto"/>
                <a:ea typeface="Roboto"/>
                <a:cs typeface="Roboto"/>
                <a:sym typeface="Roboto"/>
              </a:rPr>
              <a:t>compute grows</a:t>
            </a:r>
            <a:endParaRPr sz="500" b="1">
              <a:latin typeface="Roboto"/>
              <a:ea typeface="Roboto"/>
              <a:cs typeface="Roboto"/>
              <a:sym typeface="Roboto"/>
            </a:endParaRPr>
          </a:p>
        </p:txBody>
      </p:sp>
      <p:sp>
        <p:nvSpPr>
          <p:cNvPr id="216" name="Google Shape;216;p31"/>
          <p:cNvSpPr txBox="1">
            <a:spLocks noGrp="1"/>
          </p:cNvSpPr>
          <p:nvPr>
            <p:ph type="body" idx="1"/>
          </p:nvPr>
        </p:nvSpPr>
        <p:spPr>
          <a:xfrm>
            <a:off x="3967350" y="2748575"/>
            <a:ext cx="1325100" cy="579000"/>
          </a:xfrm>
          <a:prstGeom prst="rect">
            <a:avLst/>
          </a:prstGeom>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sz="500" b="1">
                <a:solidFill>
                  <a:srgbClr val="000000"/>
                </a:solidFill>
                <a:latin typeface="Roboto"/>
                <a:ea typeface="Roboto"/>
                <a:cs typeface="Roboto"/>
                <a:sym typeface="Roboto"/>
              </a:rPr>
              <a:t>if the slope is steep enough, </a:t>
            </a:r>
            <a:endParaRPr sz="500" b="1">
              <a:solidFill>
                <a:srgbClr val="000000"/>
              </a:solidFill>
              <a:latin typeface="Roboto"/>
              <a:ea typeface="Roboto"/>
              <a:cs typeface="Roboto"/>
              <a:sym typeface="Roboto"/>
            </a:endParaRPr>
          </a:p>
          <a:p>
            <a:pPr marL="0" lvl="0" indent="0" algn="r" rtl="0">
              <a:lnSpc>
                <a:spcPct val="115000"/>
              </a:lnSpc>
              <a:spcBef>
                <a:spcPts val="0"/>
              </a:spcBef>
              <a:spcAft>
                <a:spcPts val="0"/>
              </a:spcAft>
              <a:buNone/>
            </a:pPr>
            <a:r>
              <a:rPr lang="en" sz="500" b="1">
                <a:solidFill>
                  <a:srgbClr val="000000"/>
                </a:solidFill>
                <a:latin typeface="Roboto"/>
                <a:ea typeface="Roboto"/>
                <a:cs typeface="Roboto"/>
                <a:sym typeface="Roboto"/>
              </a:rPr>
              <a:t>an architecture can consistently outpace others within the </a:t>
            </a:r>
            <a:endParaRPr sz="500" b="1">
              <a:solidFill>
                <a:srgbClr val="000000"/>
              </a:solidFill>
              <a:latin typeface="Roboto"/>
              <a:ea typeface="Roboto"/>
              <a:cs typeface="Roboto"/>
              <a:sym typeface="Roboto"/>
            </a:endParaRPr>
          </a:p>
          <a:p>
            <a:pPr marL="0" lvl="0" indent="0" algn="r" rtl="0">
              <a:lnSpc>
                <a:spcPct val="115000"/>
              </a:lnSpc>
              <a:spcBef>
                <a:spcPts val="0"/>
              </a:spcBef>
              <a:spcAft>
                <a:spcPts val="0"/>
              </a:spcAft>
              <a:buNone/>
            </a:pPr>
            <a:r>
              <a:rPr lang="en" sz="500" b="1">
                <a:solidFill>
                  <a:srgbClr val="000000"/>
                </a:solidFill>
                <a:latin typeface="Roboto"/>
                <a:ea typeface="Roboto"/>
                <a:cs typeface="Roboto"/>
                <a:sym typeface="Roboto"/>
              </a:rPr>
              <a:t>expected range of compute</a:t>
            </a:r>
            <a:endParaRPr sz="500" b="1">
              <a:latin typeface="Roboto"/>
              <a:ea typeface="Roboto"/>
              <a:cs typeface="Roboto"/>
              <a:sym typeface="Roboto"/>
            </a:endParaRPr>
          </a:p>
        </p:txBody>
      </p:sp>
      <p:sp>
        <p:nvSpPr>
          <p:cNvPr id="217" name="Google Shape;217;p31"/>
          <p:cNvSpPr/>
          <p:nvPr/>
        </p:nvSpPr>
        <p:spPr>
          <a:xfrm>
            <a:off x="3527525" y="2139900"/>
            <a:ext cx="252900" cy="2145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221"/>
        <p:cNvGrpSpPr/>
        <p:nvPr/>
      </p:nvGrpSpPr>
      <p:grpSpPr>
        <a:xfrm>
          <a:off x="0" y="0"/>
          <a:ext cx="0" cy="0"/>
          <a:chOff x="0" y="0"/>
          <a:chExt cx="0" cy="0"/>
        </a:xfrm>
      </p:grpSpPr>
      <p:sp>
        <p:nvSpPr>
          <p:cNvPr id="222" name="Google Shape;222;p32"/>
          <p:cNvSpPr txBox="1">
            <a:spLocks noGrp="1"/>
          </p:cNvSpPr>
          <p:nvPr>
            <p:ph type="title"/>
          </p:nvPr>
        </p:nvSpPr>
        <p:spPr>
          <a:xfrm>
            <a:off x="381000" y="381000"/>
            <a:ext cx="8382000" cy="77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Continuing the study of the model performance of </a:t>
            </a:r>
            <a:endParaRPr/>
          </a:p>
          <a:p>
            <a:pPr marL="0" lvl="0" indent="0" algn="l" rtl="0">
              <a:spcBef>
                <a:spcPts val="0"/>
              </a:spcBef>
              <a:spcAft>
                <a:spcPts val="0"/>
              </a:spcAft>
              <a:buNone/>
            </a:pPr>
            <a:r>
              <a:rPr lang="en"/>
              <a:t>different transformer architectures at scale.</a:t>
            </a:r>
            <a:endParaRPr/>
          </a:p>
        </p:txBody>
      </p:sp>
      <p:sp>
        <p:nvSpPr>
          <p:cNvPr id="223" name="Google Shape;223;p32"/>
          <p:cNvSpPr txBox="1">
            <a:spLocks noGrp="1"/>
          </p:cNvSpPr>
          <p:nvPr>
            <p:ph type="body" idx="1"/>
          </p:nvPr>
        </p:nvSpPr>
        <p:spPr>
          <a:xfrm>
            <a:off x="381000" y="1314750"/>
            <a:ext cx="8202900" cy="34860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More hyperparameter tuning</a:t>
            </a:r>
            <a:endParaRPr sz="1600"/>
          </a:p>
          <a:p>
            <a:pPr marL="457200" lvl="0" indent="-330200" algn="l" rtl="0">
              <a:spcBef>
                <a:spcPts val="1600"/>
              </a:spcBef>
              <a:spcAft>
                <a:spcPts val="0"/>
              </a:spcAft>
              <a:buClr>
                <a:schemeClr val="dk1"/>
              </a:buClr>
              <a:buSzPts val="1600"/>
              <a:buChar char="●"/>
            </a:pPr>
            <a:r>
              <a:rPr lang="en" sz="1600">
                <a:solidFill>
                  <a:schemeClr val="dk1"/>
                </a:solidFill>
              </a:rPr>
              <a:t>Extend the list of models to </a:t>
            </a:r>
            <a:endParaRPr sz="1600">
              <a:solidFill>
                <a:schemeClr val="dk1"/>
              </a:solidFill>
            </a:endParaRPr>
          </a:p>
          <a:p>
            <a:pPr marL="457200" lvl="0" indent="0" algn="l" rtl="0">
              <a:spcBef>
                <a:spcPts val="1600"/>
              </a:spcBef>
              <a:spcAft>
                <a:spcPts val="0"/>
              </a:spcAft>
              <a:buNone/>
            </a:pPr>
            <a:r>
              <a:rPr lang="en" sz="1600">
                <a:solidFill>
                  <a:schemeClr val="dk1"/>
                </a:solidFill>
              </a:rPr>
              <a:t>Universal Transformer, Compressive Transformer, and Evolved Transformer</a:t>
            </a:r>
            <a:endParaRPr sz="1600">
              <a:solidFill>
                <a:schemeClr val="dk1"/>
              </a:solidFill>
            </a:endParaRPr>
          </a:p>
          <a:p>
            <a:pPr marL="457200" lvl="0" indent="-330200" algn="l" rtl="0">
              <a:spcBef>
                <a:spcPts val="1600"/>
              </a:spcBef>
              <a:spcAft>
                <a:spcPts val="0"/>
              </a:spcAft>
              <a:buClr>
                <a:schemeClr val="dk1"/>
              </a:buClr>
              <a:buSzPts val="1600"/>
              <a:buChar char="●"/>
            </a:pPr>
            <a:r>
              <a:rPr lang="en" sz="1600">
                <a:solidFill>
                  <a:schemeClr val="dk1"/>
                </a:solidFill>
              </a:rPr>
              <a:t>Experiment with a wider range of </a:t>
            </a:r>
            <a:endParaRPr sz="1600">
              <a:solidFill>
                <a:schemeClr val="dk1"/>
              </a:solidFill>
            </a:endParaRPr>
          </a:p>
          <a:p>
            <a:pPr marL="457200" lvl="0" indent="0" algn="l" rtl="0">
              <a:spcBef>
                <a:spcPts val="1600"/>
              </a:spcBef>
              <a:spcAft>
                <a:spcPts val="0"/>
              </a:spcAft>
              <a:buNone/>
            </a:pPr>
            <a:r>
              <a:rPr lang="en" sz="1600">
                <a:solidFill>
                  <a:schemeClr val="dk1"/>
                </a:solidFill>
              </a:rPr>
              <a:t>datasets, dataset sizes, tasks, and learning rate schedules</a:t>
            </a:r>
            <a:endParaRPr sz="1600">
              <a:solidFill>
                <a:schemeClr val="dk1"/>
              </a:solidFill>
            </a:endParaRPr>
          </a:p>
          <a:p>
            <a:pPr marL="457200" lvl="0" indent="-330200" algn="l" rtl="0">
              <a:spcBef>
                <a:spcPts val="1600"/>
              </a:spcBef>
              <a:spcAft>
                <a:spcPts val="0"/>
              </a:spcAft>
              <a:buSzPts val="1600"/>
              <a:buChar char="●"/>
            </a:pPr>
            <a:r>
              <a:rPr lang="en" sz="1600">
                <a:solidFill>
                  <a:schemeClr val="dk1"/>
                </a:solidFill>
              </a:rPr>
              <a:t>Track more eval metrics and recalculate scaling laws with and w/o irreducible loss</a:t>
            </a:r>
            <a:endParaRPr sz="1600">
              <a:solidFill>
                <a:schemeClr val="dk1"/>
              </a:solidFill>
            </a:endParaRPr>
          </a:p>
          <a:p>
            <a:pPr marL="457200" lvl="0" indent="-330200" algn="l" rtl="0">
              <a:spcBef>
                <a:spcPts val="1600"/>
              </a:spcBef>
              <a:spcAft>
                <a:spcPts val="1600"/>
              </a:spcAft>
              <a:buSzPts val="1600"/>
              <a:buChar char="●"/>
            </a:pPr>
            <a:r>
              <a:rPr lang="en" sz="1600">
                <a:solidFill>
                  <a:schemeClr val="dk1"/>
                </a:solidFill>
              </a:rPr>
              <a:t>More runs and extended model scans to better reduce variability in testing</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0F4B"/>
        </a:solidFill>
        <a:effectLst/>
      </p:bgPr>
    </p:bg>
    <p:spTree>
      <p:nvGrpSpPr>
        <p:cNvPr id="1" name="Shape 227"/>
        <p:cNvGrpSpPr/>
        <p:nvPr/>
      </p:nvGrpSpPr>
      <p:grpSpPr>
        <a:xfrm>
          <a:off x="0" y="0"/>
          <a:ext cx="0" cy="0"/>
          <a:chOff x="0" y="0"/>
          <a:chExt cx="0" cy="0"/>
        </a:xfrm>
      </p:grpSpPr>
      <p:sp>
        <p:nvSpPr>
          <p:cNvPr id="228" name="Google Shape;228;p33"/>
          <p:cNvSpPr txBox="1">
            <a:spLocks noGrp="1"/>
          </p:cNvSpPr>
          <p:nvPr>
            <p:ph type="body" idx="1"/>
          </p:nvPr>
        </p:nvSpPr>
        <p:spPr>
          <a:xfrm>
            <a:off x="381000" y="990600"/>
            <a:ext cx="8298600" cy="37338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 sz="1700">
                <a:solidFill>
                  <a:schemeClr val="dk1"/>
                </a:solidFill>
              </a:rPr>
              <a:t>Open AI</a:t>
            </a:r>
            <a:endParaRPr sz="1700">
              <a:solidFill>
                <a:schemeClr val="dk1"/>
              </a:solidFill>
            </a:endParaRPr>
          </a:p>
          <a:p>
            <a:pPr marL="457200" lvl="0" indent="0" algn="l" rtl="0">
              <a:lnSpc>
                <a:spcPct val="115000"/>
              </a:lnSpc>
              <a:spcBef>
                <a:spcPts val="0"/>
              </a:spcBef>
              <a:spcAft>
                <a:spcPts val="0"/>
              </a:spcAft>
              <a:buNone/>
            </a:pPr>
            <a:r>
              <a:rPr lang="en" sz="1700">
                <a:solidFill>
                  <a:schemeClr val="dk1"/>
                </a:solidFill>
              </a:rPr>
              <a:t>Nick Joseph</a:t>
            </a:r>
            <a:endParaRPr sz="1700">
              <a:solidFill>
                <a:schemeClr val="dk1"/>
              </a:solidFill>
            </a:endParaRPr>
          </a:p>
          <a:p>
            <a:pPr marL="457200" lvl="0" indent="0" algn="l" rtl="0">
              <a:lnSpc>
                <a:spcPct val="115000"/>
              </a:lnSpc>
              <a:spcBef>
                <a:spcPts val="0"/>
              </a:spcBef>
              <a:spcAft>
                <a:spcPts val="0"/>
              </a:spcAft>
              <a:buNone/>
            </a:pPr>
            <a:endParaRPr sz="1700"/>
          </a:p>
          <a:p>
            <a:pPr marL="457200" lvl="0" indent="0" algn="l" rtl="0">
              <a:lnSpc>
                <a:spcPct val="115000"/>
              </a:lnSpc>
              <a:spcBef>
                <a:spcPts val="0"/>
              </a:spcBef>
              <a:spcAft>
                <a:spcPts val="0"/>
              </a:spcAft>
              <a:buNone/>
            </a:pPr>
            <a:r>
              <a:rPr lang="en" sz="1700"/>
              <a:t>Hugging Face</a:t>
            </a:r>
            <a:endParaRPr sz="1700"/>
          </a:p>
          <a:p>
            <a:pPr marL="457200" lvl="0" indent="0" algn="l" rtl="0">
              <a:lnSpc>
                <a:spcPct val="115000"/>
              </a:lnSpc>
              <a:spcBef>
                <a:spcPts val="0"/>
              </a:spcBef>
              <a:spcAft>
                <a:spcPts val="0"/>
              </a:spcAft>
              <a:buNone/>
            </a:pPr>
            <a:r>
              <a:rPr lang="en" sz="1700"/>
              <a:t>Deep Speed</a:t>
            </a:r>
            <a:endParaRPr sz="1700"/>
          </a:p>
          <a:p>
            <a:pPr marL="457200" lvl="0" indent="0" algn="l" rtl="0">
              <a:lnSpc>
                <a:spcPct val="115000"/>
              </a:lnSpc>
              <a:spcBef>
                <a:spcPts val="0"/>
              </a:spcBef>
              <a:spcAft>
                <a:spcPts val="0"/>
              </a:spcAft>
              <a:buNone/>
            </a:pPr>
            <a:r>
              <a:rPr lang="en" sz="1700"/>
              <a:t>Azure</a:t>
            </a:r>
            <a:endParaRPr sz="1700"/>
          </a:p>
        </p:txBody>
      </p:sp>
      <p:sp>
        <p:nvSpPr>
          <p:cNvPr id="229" name="Google Shape;229;p33"/>
          <p:cNvSpPr txBox="1">
            <a:spLocks noGrp="1"/>
          </p:cNvSpPr>
          <p:nvPr>
            <p:ph type="title"/>
          </p:nvPr>
        </p:nvSpPr>
        <p:spPr>
          <a:xfrm>
            <a:off x="381000" y="381000"/>
            <a:ext cx="83820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 You!</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a:spLocks noGrp="1"/>
          </p:cNvSpPr>
          <p:nvPr>
            <p:ph type="title"/>
          </p:nvPr>
        </p:nvSpPr>
        <p:spPr>
          <a:xfrm>
            <a:off x="381000" y="2333773"/>
            <a:ext cx="8382000" cy="60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Q&amp;A</a:t>
            </a:r>
            <a:endParaRPr/>
          </a:p>
        </p:txBody>
      </p:sp>
      <p:sp>
        <p:nvSpPr>
          <p:cNvPr id="235" name="Google Shape;235;p34"/>
          <p:cNvSpPr txBox="1">
            <a:spLocks noGrp="1"/>
          </p:cNvSpPr>
          <p:nvPr>
            <p:ph type="subTitle" idx="2"/>
          </p:nvPr>
        </p:nvSpPr>
        <p:spPr>
          <a:xfrm>
            <a:off x="381000" y="4495800"/>
            <a:ext cx="8382000" cy="304800"/>
          </a:xfrm>
          <a:prstGeom prst="rect">
            <a:avLst/>
          </a:prstGeom>
        </p:spPr>
        <p:txBody>
          <a:bodyPr spcFirstLastPara="1" wrap="square" lIns="91425" tIns="91425" rIns="91425" bIns="91425" anchor="b" anchorCtr="0">
            <a:noAutofit/>
          </a:bodyPr>
          <a:lstStyle/>
          <a:p>
            <a:pPr marL="0" lvl="0" indent="0" algn="l" rtl="0">
              <a:spcBef>
                <a:spcPts val="0"/>
              </a:spcBef>
              <a:spcAft>
                <a:spcPts val="1600"/>
              </a:spcAft>
              <a:buNone/>
            </a:pPr>
            <a:r>
              <a:rPr lang="en"/>
              <a:t>Don’t be shy!</a:t>
            </a:r>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4176</Words>
  <Application>Microsoft Macintosh PowerPoint</Application>
  <PresentationFormat>On-screen Show (16:9)</PresentationFormat>
  <Paragraphs>426</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Roboto Light</vt:lpstr>
      <vt:lpstr>Average</vt:lpstr>
      <vt:lpstr>Arial</vt:lpstr>
      <vt:lpstr>Oswald</vt:lpstr>
      <vt:lpstr>Roboto Medium</vt:lpstr>
      <vt:lpstr>Roboto</vt:lpstr>
      <vt:lpstr>Slate</vt:lpstr>
      <vt:lpstr>Scaling Laws for Transformer Architecture Variants</vt:lpstr>
      <vt:lpstr>Agenda</vt:lpstr>
      <vt:lpstr>Scaling Laws for language model performance show that loss scales  as a power-law with model size, dataset size, and compute.</vt:lpstr>
      <vt:lpstr>PowerPoint Presentation</vt:lpstr>
      <vt:lpstr>PowerPoint Presentation</vt:lpstr>
      <vt:lpstr>The variants were picked based on their architecture and  access to an open sourced implementation of the algorithm.</vt:lpstr>
      <vt:lpstr>The impact of architecture on scaling laws depends on  how significantly it impacts compute.</vt:lpstr>
      <vt:lpstr>Agenda</vt:lpstr>
      <vt:lpstr>Experiments were done using model size scans to  calculate and compare L(C)* among the variants.</vt:lpstr>
      <vt:lpstr>The same architecture using a different method of training can produce different L(C)s.</vt:lpstr>
      <vt:lpstr>Reformer formed a tiered pareto frontier, meaning that some of the larger models don’t perform any better than the smallest within the same tier but used more compute.</vt:lpstr>
      <vt:lpstr>Experiment Limitations</vt:lpstr>
      <vt:lpstr>Agenda</vt:lpstr>
      <vt:lpstr>The architecture that scales best is the most cost effective model to use.</vt:lpstr>
      <vt:lpstr>The architecture that scales best is the most cost effective model to use. </vt:lpstr>
      <vt:lpstr>The architecture that scales best is the most cost effective model to use. </vt:lpstr>
      <vt:lpstr>Continuing the study of the model performance of  different transformer architectures at scale.</vt:lpstr>
      <vt:lpstr>Thank You!</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Laws for Transformer Architecture Variants</dc:title>
  <cp:lastModifiedBy>Jennifer Oyedele</cp:lastModifiedBy>
  <cp:revision>1</cp:revision>
  <dcterms:modified xsi:type="dcterms:W3CDTF">2024-10-02T00:28:52Z</dcterms:modified>
</cp:coreProperties>
</file>